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7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A6A9D-C26D-B5FB-FAEC-D1D31B0455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C19D86-F708-E8D5-6B61-23E59CDB7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4F428-3304-872B-E74A-74E113069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09BEC-9CAF-16E4-A1DC-FAA7CE032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E357D-AD97-B95B-E982-2D2EA84E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618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22C44-966E-20FF-FC55-23D04998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29423-8F60-1870-E848-7A2DD1FD0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11DB0-B01D-301D-BDCC-9205BB07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866C3-E465-255F-8FC9-1F3AFC605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696A62-DBC9-443A-2896-0576EF584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16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C359A-6755-7C46-DFB8-99A9DA9C0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E0D68F-B077-7E3B-F0E4-1D302A4B2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6D74A-8633-A34F-082D-DD656AFD3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03F928-4A6F-F6F0-6BBC-0761C00D9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97D6B-8E3B-F1EE-10A6-7A6EB5196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698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282FE-2CBC-3D10-2027-080E572C6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0A5CC-ACB8-B7AC-FEF9-B38F6CBECF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BE973B-48FC-FE42-7455-973F76B3E2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3303E2-2A54-CDD4-538E-2CE202073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2224-59E8-E75A-DA7C-C7DCFE88D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B9058A-1A15-8021-27E0-9BAF11DB6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143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1E25B-865F-F96E-85A9-DE8B5633B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5EA4B-28AF-ADF7-8DC0-EFAA087EB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D73B6-A69F-E68A-4E15-911E3356B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A63B88-5932-F748-B8E1-EF081E48EC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F0F37C-4CE6-89A3-F74E-17FE6C4630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5D5862-C79F-5026-99B6-258248545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C6D693-D56F-1ED4-FAAF-023823E9C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D56650-25FE-3AAC-5CC3-0E021B41E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7790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A01A9-F996-E57E-6ACA-6270E1076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76FC40-C4CC-BDCD-D810-B897294B4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1CB49-DEB7-08E4-4FD1-5F3C54A76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70E1D7-6226-8D7F-7401-7CC729CDC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525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A57B8F-CFDC-6B2F-F136-56E0A1C36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A6A121-5702-16D0-B630-69B1C03A0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CD436-505C-7730-5DBE-6C7512D59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694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1077-48DE-8837-3935-594C1D81F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DB317-8555-96B2-ED3C-C669AFF44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053A54-25A5-07D4-3C1B-9F00A864E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C405FB-0D8F-3408-C12B-0629C8437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2FB1D1-2F3E-2F0B-4F8F-259081BC8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489CD3-B532-3502-6E43-258986B6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8945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2010B-D6A8-61F3-9A78-E4A228895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60830-AF8B-7221-AA84-B6B03C2BDA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3A3D1-EE2F-F95C-48D3-ED0EF9C6F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A995A8-C62D-7B78-826B-7A9651A20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483C48-998F-D9A4-091B-AD83AB362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E19FCE-A05B-B5BF-E50F-9E1A7D696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0284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5A3BF-55F3-5A9E-1119-6343DE820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C493E-F6AD-81E4-11C3-31D3D3BF1B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D3957-806A-86A4-546A-E43E883A5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0EA3D1-F630-80DD-4626-BA50B7CE7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C650C-8491-544A-3E17-799FC815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6726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2B65E5-DC31-F162-3A48-30180702CD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A2563-39BD-C48A-9A23-5D112CDB1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045D0-AAE3-92A7-BAFB-D19A1055D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72848-B465-B28C-C5A0-C37699E3F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14A04-D91A-88AF-542F-BF95AB7F0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125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1CA288-BFF4-5E8E-6127-44629BDEC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E0D2D-DC22-6886-5862-FCDDF82EE5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BE1B8-4474-2355-659D-ABDF68A6BB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870EB6-92D5-4BF1-9585-8D396CA896E0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6568D3-EA8E-A77C-8A64-5323CAA3E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FDE63-9392-3F82-945D-441602032B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A2CED8-F692-4742-90EE-E03FBECE70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273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tokenizer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mu.edu/~dst/WordEmbeddingDemo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bbycroft.net/llm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404A7-4C2D-B9D7-1FD6-B5E8FC751A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/>
              <a:t>Transformers  </a:t>
            </a:r>
            <a:r>
              <a:rPr lang="en-IN" b="1" dirty="0"/>
              <a:t>LLM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FD70A2-0D28-8ECA-ED6C-31BAA7A92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39664" y="4758813"/>
            <a:ext cx="3962400" cy="902110"/>
          </a:xfrm>
        </p:spPr>
        <p:txBody>
          <a:bodyPr>
            <a:normAutofit/>
          </a:bodyPr>
          <a:lstStyle/>
          <a:p>
            <a:pPr marL="342900" indent="-342900">
              <a:buFontTx/>
              <a:buChar char="-"/>
            </a:pPr>
            <a:r>
              <a:rPr lang="en-IN" dirty="0"/>
              <a:t>Varun Raste</a:t>
            </a:r>
          </a:p>
          <a:p>
            <a:r>
              <a:rPr lang="en-IN" dirty="0"/>
              <a:t>                    Data Scientist , IBM</a:t>
            </a:r>
          </a:p>
        </p:txBody>
      </p:sp>
    </p:spTree>
    <p:extLst>
      <p:ext uri="{BB962C8B-B14F-4D97-AF65-F5344CB8AC3E}">
        <p14:creationId xmlns:p14="http://schemas.microsoft.com/office/powerpoint/2010/main" val="2009031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3CFB65-AD3B-69A3-09F9-880509FF0929}"/>
              </a:ext>
            </a:extLst>
          </p:cNvPr>
          <p:cNvSpPr txBox="1"/>
          <p:nvPr/>
        </p:nvSpPr>
        <p:spPr>
          <a:xfrm>
            <a:off x="3195484" y="285135"/>
            <a:ext cx="4807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What is NLP and Why Text Is Hard</a:t>
            </a:r>
            <a:endParaRPr lang="en-IN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0AA4A-97FD-A1D3-C599-625B7D4CBEA4}"/>
              </a:ext>
            </a:extLst>
          </p:cNvPr>
          <p:cNvSpPr txBox="1"/>
          <p:nvPr/>
        </p:nvSpPr>
        <p:spPr>
          <a:xfrm>
            <a:off x="507825" y="2222090"/>
            <a:ext cx="537531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NLP teaches computers to work with human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Humans understand meaning naturally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Computers only understand numbers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Language has ambiguity and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word can have many meanings</a:t>
            </a:r>
            <a:endParaRPr lang="en-IN" dirty="0"/>
          </a:p>
        </p:txBody>
      </p:sp>
      <p:pic>
        <p:nvPicPr>
          <p:cNvPr id="1027" name="Picture 3" descr="Natural Language Processing to Analyze Growing Data">
            <a:extLst>
              <a:ext uri="{FF2B5EF4-FFF2-40B4-BE49-F238E27FC236}">
                <a16:creationId xmlns:a16="http://schemas.microsoft.com/office/drawing/2014/main" id="{8040ECEF-7E4E-569E-22B2-CE3533370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303" y="2222090"/>
            <a:ext cx="5699586" cy="3016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0818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127F-CDEB-D04C-2D71-6955D6976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365CF9-08B9-2DCD-1753-4251E9A4ADA6}"/>
              </a:ext>
            </a:extLst>
          </p:cNvPr>
          <p:cNvSpPr txBox="1"/>
          <p:nvPr/>
        </p:nvSpPr>
        <p:spPr>
          <a:xfrm>
            <a:off x="4591665" y="383457"/>
            <a:ext cx="4807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Raw Text → Tokens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D5AF16-8523-E7F9-F256-2F8007D430AC}"/>
              </a:ext>
            </a:extLst>
          </p:cNvPr>
          <p:cNvSpPr txBox="1"/>
          <p:nvPr/>
        </p:nvSpPr>
        <p:spPr>
          <a:xfrm>
            <a:off x="507825" y="2222090"/>
            <a:ext cx="537531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Models cannot read raw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Text is split into smaller units called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Tokens are words or word pieces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Tokenization is the first step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Models work only with tokens</a:t>
            </a:r>
            <a:endParaRPr lang="en-IN" dirty="0"/>
          </a:p>
        </p:txBody>
      </p:sp>
      <p:pic>
        <p:nvPicPr>
          <p:cNvPr id="2050" name="Picture 2" descr="How Tokenization in NLP Transforms AI Understanding?">
            <a:extLst>
              <a:ext uri="{FF2B5EF4-FFF2-40B4-BE49-F238E27FC236}">
                <a16:creationId xmlns:a16="http://schemas.microsoft.com/office/drawing/2014/main" id="{9D547B5C-839C-7AEE-952F-6D0E550E0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2287" y="1818968"/>
            <a:ext cx="6532564" cy="362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19DE6F-3AB9-EBB3-5BE8-AD05A0CF45DA}"/>
              </a:ext>
            </a:extLst>
          </p:cNvPr>
          <p:cNvSpPr txBox="1"/>
          <p:nvPr/>
        </p:nvSpPr>
        <p:spPr>
          <a:xfrm>
            <a:off x="8052620" y="5761703"/>
            <a:ext cx="5191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hlinkClick r:id="rId3"/>
              </a:rPr>
              <a:t>Tokenizer_Demo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4640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9DA24-696A-3E18-34C9-56B714BA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7558A5-736D-B9B5-CA7B-50307C786E59}"/>
              </a:ext>
            </a:extLst>
          </p:cNvPr>
          <p:cNvSpPr txBox="1"/>
          <p:nvPr/>
        </p:nvSpPr>
        <p:spPr>
          <a:xfrm>
            <a:off x="3195484" y="285135"/>
            <a:ext cx="4807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 err="1"/>
              <a:t>Subword</a:t>
            </a:r>
            <a:r>
              <a:rPr lang="en-IN" sz="2400" dirty="0"/>
              <a:t> Tokenization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F67707-1279-B0C0-39A5-0E8306C31FA9}"/>
              </a:ext>
            </a:extLst>
          </p:cNvPr>
          <p:cNvSpPr txBox="1"/>
          <p:nvPr/>
        </p:nvSpPr>
        <p:spPr>
          <a:xfrm>
            <a:off x="507825" y="2222090"/>
            <a:ext cx="537531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Words are split into smaller parts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Common pieces are reused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Helps handle unknown 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Keeps vocabulary size small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Example: unbelievable → un + believe + able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12AA36-06D8-676F-A618-A9017BD5B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598" y="1573161"/>
            <a:ext cx="4438103" cy="40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778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45AA1-7BE6-5720-1FB0-B13618A3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371EF9-4F14-079B-F10A-2A0D3AB4658A}"/>
              </a:ext>
            </a:extLst>
          </p:cNvPr>
          <p:cNvSpPr txBox="1"/>
          <p:nvPr/>
        </p:nvSpPr>
        <p:spPr>
          <a:xfrm>
            <a:off x="3833117" y="360213"/>
            <a:ext cx="5375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Embeddings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10D795-6826-4E1D-4316-46B719FE52F3}"/>
              </a:ext>
            </a:extLst>
          </p:cNvPr>
          <p:cNvSpPr txBox="1"/>
          <p:nvPr/>
        </p:nvSpPr>
        <p:spPr>
          <a:xfrm>
            <a:off x="439000" y="1838631"/>
            <a:ext cx="537531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Embeddings are numerical representations of 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They convert text into numbers machines understand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word is represented as a vector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 words have similar embeddings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Embeddings capture meaning and context</a:t>
            </a:r>
            <a:endParaRPr lang="en-IN" dirty="0"/>
          </a:p>
        </p:txBody>
      </p:sp>
      <p:pic>
        <p:nvPicPr>
          <p:cNvPr id="4099" name="Picture 3" descr="Word Embedding Demo: Tutorial">
            <a:extLst>
              <a:ext uri="{FF2B5EF4-FFF2-40B4-BE49-F238E27FC236}">
                <a16:creationId xmlns:a16="http://schemas.microsoft.com/office/drawing/2014/main" id="{94D464F7-0A40-5039-8F51-4E6C93073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2710" y="591045"/>
            <a:ext cx="6626941" cy="497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BDE0A4C-3622-EA7E-59C3-E60C403FCD22}"/>
              </a:ext>
            </a:extLst>
          </p:cNvPr>
          <p:cNvSpPr txBox="1"/>
          <p:nvPr/>
        </p:nvSpPr>
        <p:spPr>
          <a:xfrm>
            <a:off x="7649497" y="5801032"/>
            <a:ext cx="3824748" cy="373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>
                <a:hlinkClick r:id="rId3"/>
              </a:rPr>
              <a:t>WordEmbedding_Demo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8170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3509C-2270-56C4-0864-7F127E285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AE7AEB-B74E-701F-4273-08F3707E3B57}"/>
              </a:ext>
            </a:extLst>
          </p:cNvPr>
          <p:cNvSpPr txBox="1"/>
          <p:nvPr/>
        </p:nvSpPr>
        <p:spPr>
          <a:xfrm>
            <a:off x="3833117" y="360213"/>
            <a:ext cx="5375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What Is a Transformer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CA0E98-957F-D17A-76A1-E2F2FB3EDE7F}"/>
              </a:ext>
            </a:extLst>
          </p:cNvPr>
          <p:cNvSpPr txBox="1"/>
          <p:nvPr/>
        </p:nvSpPr>
        <p:spPr>
          <a:xfrm>
            <a:off x="301349" y="1533831"/>
            <a:ext cx="635509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Transformer is a neural network architecture designed specifically to handle sequential data like 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Unlike older models, a Transformer processes all tokens in a sentence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uses a mechanism called attention to decide which words are important for understanding context.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allows the model to capture long-range relationships between words.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Transformers form the foundation of modern large language models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2516C0-6AB9-2D08-E7D7-3E9C93409BB2}"/>
              </a:ext>
            </a:extLst>
          </p:cNvPr>
          <p:cNvSpPr txBox="1"/>
          <p:nvPr/>
        </p:nvSpPr>
        <p:spPr>
          <a:xfrm>
            <a:off x="7649496" y="6061454"/>
            <a:ext cx="3785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>
                <a:hlinkClick r:id="rId2"/>
              </a:rPr>
              <a:t>transformer_demo</a:t>
            </a:r>
            <a:endParaRPr lang="en-IN" dirty="0"/>
          </a:p>
        </p:txBody>
      </p:sp>
      <p:pic>
        <p:nvPicPr>
          <p:cNvPr id="5122" name="Picture 2" descr="The Transformer Model - MachineLearningMastery.com">
            <a:extLst>
              <a:ext uri="{FF2B5EF4-FFF2-40B4-BE49-F238E27FC236}">
                <a16:creationId xmlns:a16="http://schemas.microsoft.com/office/drawing/2014/main" id="{8AAC57C4-10F3-A9FB-94C4-EABCA3A4E5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7342" y="206477"/>
            <a:ext cx="3935689" cy="5545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7584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DD374-361E-7788-4EDA-1A95A2E22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BE0A4C-EFC1-8310-E479-78C4979257DD}"/>
              </a:ext>
            </a:extLst>
          </p:cNvPr>
          <p:cNvSpPr txBox="1"/>
          <p:nvPr/>
        </p:nvSpPr>
        <p:spPr>
          <a:xfrm>
            <a:off x="3833117" y="360213"/>
            <a:ext cx="5375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Self Attention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2CB89-C2F8-F3CA-F329-A750EFC51E5E}"/>
              </a:ext>
            </a:extLst>
          </p:cNvPr>
          <p:cNvSpPr txBox="1"/>
          <p:nvPr/>
        </p:nvSpPr>
        <p:spPr>
          <a:xfrm>
            <a:off x="301349" y="1533831"/>
            <a:ext cx="635509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Self-attention allows each token to look at every other token in the sequence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each token, the model creates three vectors called Query, Key, and Value using linear transformations.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Attention scores are computed by comparing Queries with all Keys using dot products.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scores are normalized to decide how much focus each token should give to others.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weighted sum of Values produces a context-aware representation for each token.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AF32AC-1195-7527-4A04-A0B612742A14}"/>
              </a:ext>
            </a:extLst>
          </p:cNvPr>
          <p:cNvSpPr txBox="1"/>
          <p:nvPr/>
        </p:nvSpPr>
        <p:spPr>
          <a:xfrm>
            <a:off x="7649496" y="6061454"/>
            <a:ext cx="3785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hlinkClick r:id="rId2"/>
              </a:rPr>
              <a:t>Transformer_demo_v1</a:t>
            </a:r>
            <a:endParaRPr lang="en-IN" dirty="0"/>
          </a:p>
        </p:txBody>
      </p:sp>
      <p:pic>
        <p:nvPicPr>
          <p:cNvPr id="10242" name="Picture 2" descr="Understanding The Self-Attention Mechanism">
            <a:extLst>
              <a:ext uri="{FF2B5EF4-FFF2-40B4-BE49-F238E27FC236}">
                <a16:creationId xmlns:a16="http://schemas.microsoft.com/office/drawing/2014/main" id="{40254C1C-E85F-CA20-7BC0-640097634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3061" y="1363683"/>
            <a:ext cx="4294708" cy="370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624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99C84-06FC-BECC-A988-4C9091050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7DC11F-4209-A9E2-2175-8CB8833A55DE}"/>
              </a:ext>
            </a:extLst>
          </p:cNvPr>
          <p:cNvSpPr txBox="1"/>
          <p:nvPr/>
        </p:nvSpPr>
        <p:spPr>
          <a:xfrm>
            <a:off x="4354227" y="275969"/>
            <a:ext cx="5025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Forward Pass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C816B1-68DC-5F21-3B41-F4666867C51A}"/>
              </a:ext>
            </a:extLst>
          </p:cNvPr>
          <p:cNvSpPr txBox="1"/>
          <p:nvPr/>
        </p:nvSpPr>
        <p:spPr>
          <a:xfrm>
            <a:off x="139648" y="1326811"/>
            <a:ext cx="558817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forward pass is the complete journey of data from input tokens to output scores inside the Transformer.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Tokens are first converted into embeddings so that the model can work with numbers instead of 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embeddings pass through multiple layers that gradually refine the information.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layer improves the model’s understanding of context and relationships between words.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final output of the forward pass is a set of raw scores called logits.</a:t>
            </a:r>
            <a:endParaRPr lang="en-IN" dirty="0"/>
          </a:p>
        </p:txBody>
      </p:sp>
      <p:pic>
        <p:nvPicPr>
          <p:cNvPr id="6146" name="Picture 2" descr="Journey of a single token through the LLM Architecture">
            <a:extLst>
              <a:ext uri="{FF2B5EF4-FFF2-40B4-BE49-F238E27FC236}">
                <a16:creationId xmlns:a16="http://schemas.microsoft.com/office/drawing/2014/main" id="{B9DD8D4F-3E95-27E7-777E-F0634A150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4176" y="1304688"/>
            <a:ext cx="5588176" cy="3970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0261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18231-E9B2-1D84-0986-92537F121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CC3119-37D9-3940-6EC7-BB29B6B9B6CE}"/>
              </a:ext>
            </a:extLst>
          </p:cNvPr>
          <p:cNvSpPr txBox="1"/>
          <p:nvPr/>
        </p:nvSpPr>
        <p:spPr>
          <a:xfrm>
            <a:off x="4354227" y="275969"/>
            <a:ext cx="5025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Logits and Next Token Prediction</a:t>
            </a:r>
            <a:endParaRPr lang="en-IN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5A62CF-4D45-4099-D83A-35885C21F6F8}"/>
              </a:ext>
            </a:extLst>
          </p:cNvPr>
          <p:cNvSpPr txBox="1"/>
          <p:nvPr/>
        </p:nvSpPr>
        <p:spPr>
          <a:xfrm>
            <a:off x="1353400" y="1641986"/>
            <a:ext cx="108386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Logits are numerical scores produced by the model for every possible token in the vocabulary.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higher logit value means the model believes that token is more likely to come next.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Logits are not probabilities and cannot be interpreted directly by humans.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softmax</a:t>
            </a:r>
            <a:r>
              <a:rPr lang="en-US" dirty="0"/>
              <a:t> function converts logits into probabilities that sum to 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model uses these probabilities to choose the next token.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0409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271CF-0FCE-300B-B0CD-C0AF70B7C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233BD9-D946-0113-C94C-9A6AA3BBBA65}"/>
              </a:ext>
            </a:extLst>
          </p:cNvPr>
          <p:cNvSpPr txBox="1"/>
          <p:nvPr/>
        </p:nvSpPr>
        <p:spPr>
          <a:xfrm>
            <a:off x="4354227" y="275969"/>
            <a:ext cx="50257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Text Generation</a:t>
            </a:r>
          </a:p>
          <a:p>
            <a:endParaRPr lang="en-IN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18DAA5-A5EE-98A8-7039-F5E3F25BE889}"/>
              </a:ext>
            </a:extLst>
          </p:cNvPr>
          <p:cNvSpPr txBox="1"/>
          <p:nvPr/>
        </p:nvSpPr>
        <p:spPr>
          <a:xfrm>
            <a:off x="547154" y="1719144"/>
            <a:ext cx="1013067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model generates text one token at a time instead of generating a full sentence at once.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After each prediction, the new token is appended to the input sequence.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expanded sequence is passed through the model again.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process repeats until a stopping condition is met.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repetition creates fluent and coherent text.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4334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96830-E8CF-5E09-6505-8D3D780E5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809068-F829-8D6E-2969-CCA3F91D0184}"/>
              </a:ext>
            </a:extLst>
          </p:cNvPr>
          <p:cNvSpPr txBox="1"/>
          <p:nvPr/>
        </p:nvSpPr>
        <p:spPr>
          <a:xfrm>
            <a:off x="3911776" y="295633"/>
            <a:ext cx="5025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Pipeline API vs Low-Level API</a:t>
            </a:r>
            <a:endParaRPr lang="en-IN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DB4B0B-6632-D406-8DF4-2CC3DC340969}"/>
              </a:ext>
            </a:extLst>
          </p:cNvPr>
          <p:cNvSpPr txBox="1"/>
          <p:nvPr/>
        </p:nvSpPr>
        <p:spPr>
          <a:xfrm>
            <a:off x="556986" y="1504334"/>
            <a:ext cx="1078943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pipeline API provides a simple interface that hides many implementation details.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is ideal for demonstrations, prototypes, and learning experiments.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low-level API exposes tokenization, model inputs, and outputs.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gives developers more control over performance and behavior.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Production systems typically rely on low-level APIs.</a:t>
            </a:r>
          </a:p>
        </p:txBody>
      </p:sp>
    </p:spTree>
    <p:extLst>
      <p:ext uri="{BB962C8B-B14F-4D97-AF65-F5344CB8AC3E}">
        <p14:creationId xmlns:p14="http://schemas.microsoft.com/office/powerpoint/2010/main" val="4096341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B24A6-E7E9-F845-3FAE-05B0A9097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C716D5-B204-1762-ABA3-B3A046775AC7}"/>
              </a:ext>
            </a:extLst>
          </p:cNvPr>
          <p:cNvSpPr txBox="1"/>
          <p:nvPr/>
        </p:nvSpPr>
        <p:spPr>
          <a:xfrm>
            <a:off x="4354227" y="275969"/>
            <a:ext cx="5025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Memory-Efficient Inference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91B89B-0F7A-267B-5836-A595FBA5F154}"/>
              </a:ext>
            </a:extLst>
          </p:cNvPr>
          <p:cNvSpPr txBox="1"/>
          <p:nvPr/>
        </p:nvSpPr>
        <p:spPr>
          <a:xfrm>
            <a:off x="556987" y="1504334"/>
            <a:ext cx="1097625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 language models require significant memory to run.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GPUs offer faster inference but are costly and limited.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CPUs are slower but more widely available.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Quantization reduces numerical precision to save memory.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Techniques like 8-bit loading enable efficient inference.</a:t>
            </a:r>
          </a:p>
        </p:txBody>
      </p:sp>
    </p:spTree>
    <p:extLst>
      <p:ext uri="{BB962C8B-B14F-4D97-AF65-F5344CB8AC3E}">
        <p14:creationId xmlns:p14="http://schemas.microsoft.com/office/powerpoint/2010/main" val="3179257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70A0A-B446-492B-CD78-7F4965AF7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EDA1A7-E91F-6039-8DDA-AC10CBFE7141}"/>
              </a:ext>
            </a:extLst>
          </p:cNvPr>
          <p:cNvSpPr txBox="1"/>
          <p:nvPr/>
        </p:nvSpPr>
        <p:spPr>
          <a:xfrm>
            <a:off x="4354227" y="275969"/>
            <a:ext cx="5025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Real-World Use Cases</a:t>
            </a:r>
          </a:p>
        </p:txBody>
      </p:sp>
      <p:pic>
        <p:nvPicPr>
          <p:cNvPr id="11266" name="Picture 2" descr="7 Real-Time Data Use Cases for LLM-Powered Applications">
            <a:extLst>
              <a:ext uri="{FF2B5EF4-FFF2-40B4-BE49-F238E27FC236}">
                <a16:creationId xmlns:a16="http://schemas.microsoft.com/office/drawing/2014/main" id="{8ACDC185-8B92-8A08-FDDC-D982E80B3E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5342" y="1347018"/>
            <a:ext cx="8819535" cy="4370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9515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E24CD-B3AB-510A-9213-424F30D83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D18F6B-157C-5779-3AA3-520232BB82A8}"/>
              </a:ext>
            </a:extLst>
          </p:cNvPr>
          <p:cNvSpPr txBox="1"/>
          <p:nvPr/>
        </p:nvSpPr>
        <p:spPr>
          <a:xfrm>
            <a:off x="4354227" y="275969"/>
            <a:ext cx="5025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What Is Hugging Face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10F03E-502C-BA8E-D42E-431B67FD7339}"/>
              </a:ext>
            </a:extLst>
          </p:cNvPr>
          <p:cNvSpPr txBox="1"/>
          <p:nvPr/>
        </p:nvSpPr>
        <p:spPr>
          <a:xfrm>
            <a:off x="556987" y="1504334"/>
            <a:ext cx="537531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Hugging Face</a:t>
            </a:r>
            <a:r>
              <a:rPr lang="en-US" dirty="0"/>
              <a:t> is an open-source platform for working with modern AI models.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provides tools to use, train, and share Transformer models easily.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Hugging Face makes complex models accessible with simple APIs.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is widely used in research, industry, and education.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Many popular LLMs are available through Hugging Face.</a:t>
            </a:r>
          </a:p>
        </p:txBody>
      </p:sp>
      <p:pic>
        <p:nvPicPr>
          <p:cNvPr id="8195" name="Picture 3" descr="What is Hugging Face? | IBM">
            <a:extLst>
              <a:ext uri="{FF2B5EF4-FFF2-40B4-BE49-F238E27FC236}">
                <a16:creationId xmlns:a16="http://schemas.microsoft.com/office/drawing/2014/main" id="{92726D9B-C232-48D8-75F2-E8BAC1933D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8995" y="2157682"/>
            <a:ext cx="3239268" cy="2129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2306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6FC80-1BF7-9DBD-85B7-2B0F9B2A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D5098A-A4B0-EDAB-ECAC-41FD06E6D4A7}"/>
              </a:ext>
            </a:extLst>
          </p:cNvPr>
          <p:cNvSpPr txBox="1"/>
          <p:nvPr/>
        </p:nvSpPr>
        <p:spPr>
          <a:xfrm>
            <a:off x="3875861" y="209977"/>
            <a:ext cx="4802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Hugging Face Model 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1BE4EF-0691-FFCC-4361-AE844C0BB1D6}"/>
              </a:ext>
            </a:extLst>
          </p:cNvPr>
          <p:cNvSpPr txBox="1"/>
          <p:nvPr/>
        </p:nvSpPr>
        <p:spPr>
          <a:xfrm>
            <a:off x="556987" y="1504334"/>
            <a:ext cx="537531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Model Hub is a repository of pre-trained models.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Models are shared for tasks like text generation and classification.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model comes with documentation called a model card.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Users can download models with just a few lines of code.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avoids training large models from scratch.</a:t>
            </a:r>
          </a:p>
        </p:txBody>
      </p:sp>
      <p:pic>
        <p:nvPicPr>
          <p:cNvPr id="9218" name="Picture 2" descr="Model Cards">
            <a:extLst>
              <a:ext uri="{FF2B5EF4-FFF2-40B4-BE49-F238E27FC236}">
                <a16:creationId xmlns:a16="http://schemas.microsoft.com/office/drawing/2014/main" id="{5C879C4F-8EB1-4F70-2D44-7B44E10BC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2305" y="1660347"/>
            <a:ext cx="5492779" cy="3332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25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748</Words>
  <Application>Microsoft Office PowerPoint</Application>
  <PresentationFormat>Widescreen</PresentationFormat>
  <Paragraphs>138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Transformers  LLM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satej raste</dc:creator>
  <cp:lastModifiedBy>satej raste</cp:lastModifiedBy>
  <cp:revision>2</cp:revision>
  <dcterms:created xsi:type="dcterms:W3CDTF">2026-01-11T15:29:42Z</dcterms:created>
  <dcterms:modified xsi:type="dcterms:W3CDTF">2026-01-11T17:47:38Z</dcterms:modified>
</cp:coreProperties>
</file>