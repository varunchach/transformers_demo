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72" r:id="rId8"/>
    <p:sldId id="280" r:id="rId9"/>
    <p:sldId id="273" r:id="rId10"/>
    <p:sldId id="274" r:id="rId11"/>
    <p:sldId id="275" r:id="rId12"/>
    <p:sldId id="276" r:id="rId13"/>
    <p:sldId id="278" r:id="rId14"/>
    <p:sldId id="279" r:id="rId15"/>
    <p:sldId id="263" r:id="rId16"/>
    <p:sldId id="264" r:id="rId17"/>
    <p:sldId id="265" r:id="rId18"/>
    <p:sldId id="267" r:id="rId19"/>
    <p:sldId id="281" r:id="rId20"/>
    <p:sldId id="283" r:id="rId21"/>
    <p:sldId id="266" r:id="rId22"/>
    <p:sldId id="284" r:id="rId23"/>
    <p:sldId id="285" r:id="rId24"/>
    <p:sldId id="268" r:id="rId25"/>
    <p:sldId id="269" r:id="rId26"/>
    <p:sldId id="270" r:id="rId27"/>
    <p:sldId id="27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A6A9D-C26D-B5FB-FAEC-D1D31B045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19D86-F708-E8D5-6B61-23E59CDB7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4F428-3304-872B-E74A-74E113069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0EB6-92D5-4BF1-9585-8D396CA896E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09BEC-9CAF-16E4-A1DC-FAA7CE032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E357D-AD97-B95B-E982-2D2EA84E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CED8-F692-4742-90EE-E03FBECE70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183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22C44-966E-20FF-FC55-23D049985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29423-8F60-1870-E848-7A2DD1FD0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11DB0-B01D-301D-BDCC-9205BB07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0EB6-92D5-4BF1-9585-8D396CA896E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866C3-E465-255F-8FC9-1F3AFC60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96A62-DBC9-443A-2896-0576EF584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CED8-F692-4742-90EE-E03FBECE70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916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C359A-6755-7C46-DFB8-99A9DA9C0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0D68F-B077-7E3B-F0E4-1D302A4B2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6D74A-8633-A34F-082D-DD656AFD3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0EB6-92D5-4BF1-9585-8D396CA896E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3F928-4A6F-F6F0-6BBC-0761C00D9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97D6B-8E3B-F1EE-10A6-7A6EB5196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CED8-F692-4742-90EE-E03FBECE70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98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282FE-2CBC-3D10-2027-080E572C6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0A5CC-ACB8-B7AC-FEF9-B38F6CBEC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BE973B-48FC-FE42-7455-973F76B3E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3303E2-2A54-CDD4-538E-2CE202073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0EB6-92D5-4BF1-9585-8D396CA896E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32224-59E8-E75A-DA7C-C7DCFE88D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9058A-1A15-8021-27E0-9BAF11DB6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CED8-F692-4742-90EE-E03FBECE70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143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1E25B-865F-F96E-85A9-DE8B5633B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5EA4B-28AF-ADF7-8DC0-EFAA087EB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D73B6-A69F-E68A-4E15-911E3356B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A63B88-5932-F748-B8E1-EF081E48EC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F0F37C-4CE6-89A3-F74E-17FE6C4630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5D5862-C79F-5026-99B6-258248545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0EB6-92D5-4BF1-9585-8D396CA896E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C6D693-D56F-1ED4-FAAF-023823E9C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D56650-25FE-3AAC-5CC3-0E021B41E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CED8-F692-4742-90EE-E03FBECE70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79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A01A9-F996-E57E-6ACA-6270E1076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76FC40-C4CC-BDCD-D810-B897294B4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0EB6-92D5-4BF1-9585-8D396CA896E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01CB49-DEB7-08E4-4FD1-5F3C54A76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70E1D7-6226-8D7F-7401-7CC729CDC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CED8-F692-4742-90EE-E03FBECE70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525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A57B8F-CFDC-6B2F-F136-56E0A1C36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0EB6-92D5-4BF1-9585-8D396CA896E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A6A121-5702-16D0-B630-69B1C03A0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CD436-505C-7730-5DBE-6C7512D59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CED8-F692-4742-90EE-E03FBECE70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694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D1077-48DE-8837-3935-594C1D81F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DB317-8555-96B2-ED3C-C669AFF44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53A54-25A5-07D4-3C1B-9F00A864E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405FB-0D8F-3408-C12B-0629C8437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0EB6-92D5-4BF1-9585-8D396CA896E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FB1D1-2F3E-2F0B-4F8F-259081BC8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89CD3-B532-3502-6E43-258986B6B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CED8-F692-4742-90EE-E03FBECE70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945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2010B-D6A8-61F3-9A78-E4A228895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C60830-AF8B-7221-AA84-B6B03C2BD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3A3D1-EE2F-F95C-48D3-ED0EF9C6F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995A8-C62D-7B78-826B-7A9651A20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0EB6-92D5-4BF1-9585-8D396CA896E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83C48-998F-D9A4-091B-AD83AB362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19FCE-A05B-B5BF-E50F-9E1A7D69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CED8-F692-4742-90EE-E03FBECE70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4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A3BF-55F3-5A9E-1119-6343DE820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C493E-F6AD-81E4-11C3-31D3D3BF1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D3957-806A-86A4-546A-E43E883A5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0EB6-92D5-4BF1-9585-8D396CA896E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EA3D1-F630-80DD-4626-BA50B7CE7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C650C-8491-544A-3E17-799FC815E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CED8-F692-4742-90EE-E03FBECE70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726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B65E5-DC31-F162-3A48-30180702CD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FA2563-39BD-C48A-9A23-5D112CDB1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45D0-AAE3-92A7-BAFB-D19A1055D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0EB6-92D5-4BF1-9585-8D396CA896E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72848-B465-B28C-C5A0-C37699E3F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14A04-D91A-88AF-542F-BF95AB7F0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CED8-F692-4742-90EE-E03FBECE70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2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1CA288-BFF4-5E8E-6127-44629BDEC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E0D2D-DC22-6886-5862-FCDDF82EE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BE1B8-4474-2355-659D-ABDF68A6B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70EB6-92D5-4BF1-9585-8D396CA896E0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568D3-EA8E-A77C-8A64-5323CAA3EA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FDE63-9392-3F82-945D-441602032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2CED8-F692-4742-90EE-E03FBECE70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7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tokenizer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cmu.edu/~dst/WordEmbeddingDem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bbycroft.net/llm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poloclub.github.io/transformer-explainer/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poloclub.github.io/transformer-explainer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bbycroft.net/llm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bbycroft.net/llm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bbycroft.net/llm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bbycroft.net/llm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bbycroft.net/llm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youtube.com/redirect?event=video_description&amp;redir_token=QUFFLUhqbVpqRlNNNkVRM0MzUEZuUjQtVjJsVnl1RVlnQXxBQ3Jtc0tteDNoWVFMRVhyREh4ZjlCRzdELWwxS2ZsQUlPU3h5QWhNZXZ2cFRIOVZlZ0lSUHY3Z1ZVZUk3dzFVc3pjLUxWS0l6UVYzbndUZkV6YkRhb2dQNXNDcWNvREtNWnRPVEg3ZlBOZHJYUzd3UG1CR0J3MA&amp;q=https%3A%2F%2Fkarpathy.ai%2F&amp;v=7xTGNNLPyMI" TargetMode="Externa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404A7-4C2D-B9D7-1FD6-B5E8FC751A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/>
              <a:t>Transformers  </a:t>
            </a:r>
            <a:r>
              <a:rPr lang="en-IN" b="1" dirty="0"/>
              <a:t>LLM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D70A2-0D28-8ECA-ED6C-31BAA7A92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39664" y="4758813"/>
            <a:ext cx="3962400" cy="902110"/>
          </a:xfrm>
        </p:spPr>
        <p:txBody>
          <a:bodyPr>
            <a:normAutofit/>
          </a:bodyPr>
          <a:lstStyle/>
          <a:p>
            <a:pPr marL="342900" indent="-342900">
              <a:buFontTx/>
              <a:buChar char="-"/>
            </a:pPr>
            <a:r>
              <a:rPr lang="en-IN" dirty="0"/>
              <a:t>Varun Raste</a:t>
            </a:r>
          </a:p>
          <a:p>
            <a:r>
              <a:rPr lang="en-IN" dirty="0"/>
              <a:t>                    Data Scientist , IBM</a:t>
            </a:r>
          </a:p>
        </p:txBody>
      </p:sp>
    </p:spTree>
    <p:extLst>
      <p:ext uri="{BB962C8B-B14F-4D97-AF65-F5344CB8AC3E}">
        <p14:creationId xmlns:p14="http://schemas.microsoft.com/office/powerpoint/2010/main" val="2009031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3CFB65-AD3B-69A3-09F9-880509FF0929}"/>
              </a:ext>
            </a:extLst>
          </p:cNvPr>
          <p:cNvSpPr txBox="1"/>
          <p:nvPr/>
        </p:nvSpPr>
        <p:spPr>
          <a:xfrm>
            <a:off x="3195484" y="285135"/>
            <a:ext cx="4807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is NLP and Why Text Is Hard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0AA4A-97FD-A1D3-C599-625B7D4CBEA4}"/>
              </a:ext>
            </a:extLst>
          </p:cNvPr>
          <p:cNvSpPr txBox="1"/>
          <p:nvPr/>
        </p:nvSpPr>
        <p:spPr>
          <a:xfrm>
            <a:off x="507825" y="2222090"/>
            <a:ext cx="53753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NLP teaches computers to work with human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Humans understand meaning naturally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Computers only understand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Language has ambiguity and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Same word can have many meanings</a:t>
            </a:r>
            <a:endParaRPr lang="en-IN" dirty="0"/>
          </a:p>
        </p:txBody>
      </p:sp>
      <p:pic>
        <p:nvPicPr>
          <p:cNvPr id="1027" name="Picture 3" descr="Natural Language Processing to Analyze Growing Data">
            <a:extLst>
              <a:ext uri="{FF2B5EF4-FFF2-40B4-BE49-F238E27FC236}">
                <a16:creationId xmlns:a16="http://schemas.microsoft.com/office/drawing/2014/main" id="{8040ECEF-7E4E-569E-22B2-CE3533370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1303" y="2222090"/>
            <a:ext cx="5699586" cy="301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818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B127F-CDEB-D04C-2D71-6955D6976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365CF9-08B9-2DCD-1753-4251E9A4ADA6}"/>
              </a:ext>
            </a:extLst>
          </p:cNvPr>
          <p:cNvSpPr txBox="1"/>
          <p:nvPr/>
        </p:nvSpPr>
        <p:spPr>
          <a:xfrm>
            <a:off x="4591665" y="383457"/>
            <a:ext cx="4807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Raw Text → Tokens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D5AF16-8523-E7F9-F256-2F8007D430AC}"/>
              </a:ext>
            </a:extLst>
          </p:cNvPr>
          <p:cNvSpPr txBox="1"/>
          <p:nvPr/>
        </p:nvSpPr>
        <p:spPr>
          <a:xfrm>
            <a:off x="507825" y="2222090"/>
            <a:ext cx="537531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Models cannot read raw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 is split into smaller units called tokens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Tokens are words or word pieces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Tokenization is the first 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Models work only with tokens</a:t>
            </a:r>
            <a:endParaRPr lang="en-IN" dirty="0"/>
          </a:p>
        </p:txBody>
      </p:sp>
      <p:pic>
        <p:nvPicPr>
          <p:cNvPr id="2050" name="Picture 2" descr="How Tokenization in NLP Transforms AI Understanding?">
            <a:extLst>
              <a:ext uri="{FF2B5EF4-FFF2-40B4-BE49-F238E27FC236}">
                <a16:creationId xmlns:a16="http://schemas.microsoft.com/office/drawing/2014/main" id="{9D547B5C-839C-7AEE-952F-6D0E550E0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287" y="1818968"/>
            <a:ext cx="6532564" cy="362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19DE6F-3AB9-EBB3-5BE8-AD05A0CF45DA}"/>
              </a:ext>
            </a:extLst>
          </p:cNvPr>
          <p:cNvSpPr txBox="1"/>
          <p:nvPr/>
        </p:nvSpPr>
        <p:spPr>
          <a:xfrm>
            <a:off x="8052620" y="5761703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3"/>
              </a:rPr>
              <a:t>Tokenizer_Demo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4640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9DA24-696A-3E18-34C9-56B714BA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7558A5-736D-B9B5-CA7B-50307C786E59}"/>
              </a:ext>
            </a:extLst>
          </p:cNvPr>
          <p:cNvSpPr txBox="1"/>
          <p:nvPr/>
        </p:nvSpPr>
        <p:spPr>
          <a:xfrm>
            <a:off x="3195484" y="285135"/>
            <a:ext cx="4807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err="1"/>
              <a:t>Subword</a:t>
            </a:r>
            <a:r>
              <a:rPr lang="en-IN" sz="2400" dirty="0"/>
              <a:t> Tokenization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F67707-1279-B0C0-39A5-0E8306C31FA9}"/>
              </a:ext>
            </a:extLst>
          </p:cNvPr>
          <p:cNvSpPr txBox="1"/>
          <p:nvPr/>
        </p:nvSpPr>
        <p:spPr>
          <a:xfrm>
            <a:off x="507825" y="2222090"/>
            <a:ext cx="537531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Words are split into smaller parts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Common pieces are reused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handle unknown 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Keeps vocabulary size small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Example: unbelievable → un + believe + able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12AA36-06D8-676F-A618-A9017BD5B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598" y="1573161"/>
            <a:ext cx="4438103" cy="409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778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45AA1-7BE6-5720-1FB0-B13618A39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371EF9-4F14-079B-F10A-2A0D3AB4658A}"/>
              </a:ext>
            </a:extLst>
          </p:cNvPr>
          <p:cNvSpPr txBox="1"/>
          <p:nvPr/>
        </p:nvSpPr>
        <p:spPr>
          <a:xfrm>
            <a:off x="3833117" y="360213"/>
            <a:ext cx="5375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Embeddings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10D795-6826-4E1D-4316-46B719FE52F3}"/>
              </a:ext>
            </a:extLst>
          </p:cNvPr>
          <p:cNvSpPr txBox="1"/>
          <p:nvPr/>
        </p:nvSpPr>
        <p:spPr>
          <a:xfrm>
            <a:off x="439000" y="1838631"/>
            <a:ext cx="53753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Embeddings are numerical representations of 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convert text into numbers machines understand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word is represented as a vector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words have similar embeddings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Embeddings capture meaning and context</a:t>
            </a:r>
            <a:endParaRPr lang="en-IN" dirty="0"/>
          </a:p>
        </p:txBody>
      </p:sp>
      <p:pic>
        <p:nvPicPr>
          <p:cNvPr id="4099" name="Picture 3" descr="Word Embedding Demo: Tutorial">
            <a:extLst>
              <a:ext uri="{FF2B5EF4-FFF2-40B4-BE49-F238E27FC236}">
                <a16:creationId xmlns:a16="http://schemas.microsoft.com/office/drawing/2014/main" id="{94D464F7-0A40-5039-8F51-4E6C93073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710" y="591045"/>
            <a:ext cx="6626941" cy="4970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DE0A4C-3622-EA7E-59C3-E60C403FCD22}"/>
              </a:ext>
            </a:extLst>
          </p:cNvPr>
          <p:cNvSpPr txBox="1"/>
          <p:nvPr/>
        </p:nvSpPr>
        <p:spPr>
          <a:xfrm>
            <a:off x="7649497" y="5801032"/>
            <a:ext cx="3824748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hlinkClick r:id="rId3"/>
              </a:rPr>
              <a:t>WordEmbedding_Demo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8170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3509C-2270-56C4-0864-7F127E285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AE7AEB-B74E-701F-4273-08F3707E3B57}"/>
              </a:ext>
            </a:extLst>
          </p:cNvPr>
          <p:cNvSpPr txBox="1"/>
          <p:nvPr/>
        </p:nvSpPr>
        <p:spPr>
          <a:xfrm>
            <a:off x="3833117" y="360213"/>
            <a:ext cx="5375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What Is a Transformer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CA0E98-957F-D17A-76A1-E2F2FB3EDE7F}"/>
              </a:ext>
            </a:extLst>
          </p:cNvPr>
          <p:cNvSpPr txBox="1"/>
          <p:nvPr/>
        </p:nvSpPr>
        <p:spPr>
          <a:xfrm>
            <a:off x="301349" y="1533831"/>
            <a:ext cx="63550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Transformer is a neural network architecture designed specifically to handle sequential data like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Unlike older models, a Transformer processes all tokens in a sentence at the same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uses a mechanism called attention to decide which words are important for understanding context.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allows the model to capture long-range relationships between 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Transformers form the foundation of modern large language models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2516C0-6AB9-2D08-E7D7-3E9C93409BB2}"/>
              </a:ext>
            </a:extLst>
          </p:cNvPr>
          <p:cNvSpPr txBox="1"/>
          <p:nvPr/>
        </p:nvSpPr>
        <p:spPr>
          <a:xfrm>
            <a:off x="7649496" y="6061454"/>
            <a:ext cx="3785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hlinkClick r:id="rId2"/>
              </a:rPr>
              <a:t>transformer_demo</a:t>
            </a:r>
            <a:endParaRPr lang="en-IN" dirty="0"/>
          </a:p>
        </p:txBody>
      </p:sp>
      <p:pic>
        <p:nvPicPr>
          <p:cNvPr id="5122" name="Picture 2" descr="The Transformer Model - MachineLearningMastery.com">
            <a:extLst>
              <a:ext uri="{FF2B5EF4-FFF2-40B4-BE49-F238E27FC236}">
                <a16:creationId xmlns:a16="http://schemas.microsoft.com/office/drawing/2014/main" id="{8AAC57C4-10F3-A9FB-94C4-EABCA3A4E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7342" y="206477"/>
            <a:ext cx="3935689" cy="5545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7584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DD374-361E-7788-4EDA-1A95A2E22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BE0A4C-EFC1-8310-E479-78C4979257DD}"/>
              </a:ext>
            </a:extLst>
          </p:cNvPr>
          <p:cNvSpPr txBox="1"/>
          <p:nvPr/>
        </p:nvSpPr>
        <p:spPr>
          <a:xfrm>
            <a:off x="3833117" y="360213"/>
            <a:ext cx="5375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Self Attention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A2CB89-C2F8-F3CA-F329-A750EFC51E5E}"/>
              </a:ext>
            </a:extLst>
          </p:cNvPr>
          <p:cNvSpPr txBox="1"/>
          <p:nvPr/>
        </p:nvSpPr>
        <p:spPr>
          <a:xfrm>
            <a:off x="301349" y="1533831"/>
            <a:ext cx="63550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Self-attention allows each token to look at every other token in the sequence at the same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each token, the model creates three vectors called Query, Key, and Value using linear transformations.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Attention scores are computed by comparing Queries with all Keys using dot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scores are normalized to decide how much focus each token should give to others.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weighted sum of Values produces a context-aware representation for each token.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AF32AC-1195-7527-4A04-A0B612742A14}"/>
              </a:ext>
            </a:extLst>
          </p:cNvPr>
          <p:cNvSpPr txBox="1"/>
          <p:nvPr/>
        </p:nvSpPr>
        <p:spPr>
          <a:xfrm>
            <a:off x="7649496" y="6061454"/>
            <a:ext cx="3785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2"/>
              </a:rPr>
              <a:t>Transformer_demo_v1</a:t>
            </a:r>
            <a:endParaRPr lang="en-IN" dirty="0"/>
          </a:p>
        </p:txBody>
      </p:sp>
      <p:pic>
        <p:nvPicPr>
          <p:cNvPr id="10242" name="Picture 2" descr="Understanding The Self-Attention Mechanism">
            <a:extLst>
              <a:ext uri="{FF2B5EF4-FFF2-40B4-BE49-F238E27FC236}">
                <a16:creationId xmlns:a16="http://schemas.microsoft.com/office/drawing/2014/main" id="{40254C1C-E85F-CA20-7BC0-640097634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061" y="1363683"/>
            <a:ext cx="4294708" cy="370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4624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109E6-34D7-B3C9-2057-2AE987507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6101F3-BD96-A68F-1297-062E59722ADD}"/>
              </a:ext>
            </a:extLst>
          </p:cNvPr>
          <p:cNvSpPr txBox="1"/>
          <p:nvPr/>
        </p:nvSpPr>
        <p:spPr>
          <a:xfrm>
            <a:off x="3833117" y="360213"/>
            <a:ext cx="5375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Key Value &amp; Query matrix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47910F-C7ED-C680-E287-7261070CAE22}"/>
              </a:ext>
            </a:extLst>
          </p:cNvPr>
          <p:cNvSpPr txBox="1"/>
          <p:nvPr/>
        </p:nvSpPr>
        <p:spPr>
          <a:xfrm>
            <a:off x="7649496" y="6061454"/>
            <a:ext cx="3785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2"/>
              </a:rPr>
              <a:t>Transformer_demo_v1</a:t>
            </a:r>
            <a:endParaRPr lang="en-IN" dirty="0"/>
          </a:p>
        </p:txBody>
      </p:sp>
      <p:pic>
        <p:nvPicPr>
          <p:cNvPr id="5122" name="Picture 2" descr="Diagram of the query, key, value, and self-attention ...">
            <a:extLst>
              <a:ext uri="{FF2B5EF4-FFF2-40B4-BE49-F238E27FC236}">
                <a16:creationId xmlns:a16="http://schemas.microsoft.com/office/drawing/2014/main" id="{E4BC62BE-6FBA-CA79-5A8D-592B2BE67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116" y="983226"/>
            <a:ext cx="4346178" cy="463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80E3C3-1EFF-1654-B3BF-E819E95EF30D}"/>
              </a:ext>
            </a:extLst>
          </p:cNvPr>
          <p:cNvSpPr txBox="1"/>
          <p:nvPr/>
        </p:nvSpPr>
        <p:spPr>
          <a:xfrm>
            <a:off x="297118" y="1268360"/>
            <a:ext cx="3067665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🟦 </a:t>
            </a:r>
            <a:r>
              <a:rPr lang="en-US" sz="1400" b="1" dirty="0"/>
              <a:t>Query (Q)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Generated from the current 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Represents the information this word wants.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Used to compare against all Keys.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Acts like a search request.</a:t>
            </a:r>
            <a:endParaRPr lang="en-I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15967B-7F88-43A2-404E-EA1E64DFCD06}"/>
              </a:ext>
            </a:extLst>
          </p:cNvPr>
          <p:cNvSpPr txBox="1"/>
          <p:nvPr/>
        </p:nvSpPr>
        <p:spPr>
          <a:xfrm>
            <a:off x="3833117" y="1268360"/>
            <a:ext cx="3265773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🟩 Key (K)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Generated from every word in the sentence.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Describes what information each word contains.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Queries are matched against Keys.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Determines relevance.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CA2812-8E02-09A6-C457-26020F99E7B8}"/>
              </a:ext>
            </a:extLst>
          </p:cNvPr>
          <p:cNvSpPr txBox="1"/>
          <p:nvPr/>
        </p:nvSpPr>
        <p:spPr>
          <a:xfrm>
            <a:off x="297118" y="3802059"/>
            <a:ext cx="3067665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🟥 Value (V)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Contains the actual information to be shared.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Combined using attention weights.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Values form the final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Not used for matching, only for aggregation.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AAC9F-C5FC-92BE-3D5C-C749657BDCFB}"/>
              </a:ext>
            </a:extLst>
          </p:cNvPr>
          <p:cNvSpPr txBox="1"/>
          <p:nvPr/>
        </p:nvSpPr>
        <p:spPr>
          <a:xfrm>
            <a:off x="3833116" y="3783907"/>
            <a:ext cx="3265774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⚙️ How Attention is Computed</a:t>
            </a:r>
          </a:p>
          <a:p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Query is compared with all Keys using dot product.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Scores are normalized using </a:t>
            </a:r>
            <a:r>
              <a:rPr lang="en-US" sz="1400" dirty="0" err="1"/>
              <a:t>softmax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Values are weighted and summed.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Output is a context-aware word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209078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3A0C0-BE9F-2D30-DED5-F3A009848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A97A1E-5A78-D752-085C-EA8ACD369B8C}"/>
              </a:ext>
            </a:extLst>
          </p:cNvPr>
          <p:cNvSpPr txBox="1"/>
          <p:nvPr/>
        </p:nvSpPr>
        <p:spPr>
          <a:xfrm>
            <a:off x="3833117" y="360213"/>
            <a:ext cx="5375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Multi-Head attention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498A8A-8C2F-EA3B-ED7B-6FA62C1B662B}"/>
              </a:ext>
            </a:extLst>
          </p:cNvPr>
          <p:cNvSpPr txBox="1"/>
          <p:nvPr/>
        </p:nvSpPr>
        <p:spPr>
          <a:xfrm>
            <a:off x="301349" y="1533831"/>
            <a:ext cx="63550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Multi-Head Attention allows the model to focus on different parts of the sentence simultaneously.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Instead of a single attention operation, multiple attention “heads” run in parallel.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head learns a different type of relationship such as syntax, semantics, or long-range dependency.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Outputs from all heads are concatenated and projected back to a single representation.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improves expressiveness without increasing sequence length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FFDBD-6875-59C2-882C-D176DA1E6AFE}"/>
              </a:ext>
            </a:extLst>
          </p:cNvPr>
          <p:cNvSpPr txBox="1"/>
          <p:nvPr/>
        </p:nvSpPr>
        <p:spPr>
          <a:xfrm>
            <a:off x="7649496" y="6061454"/>
            <a:ext cx="3785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hlinkClick r:id="rId2"/>
              </a:rPr>
              <a:t>transformer_demo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BE3C89-68EB-4D41-1F48-572B0FC1A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757" y="1876118"/>
            <a:ext cx="4154896" cy="277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187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0FD20-E29E-9281-385A-64E17FF14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6684A7-90D5-D5B2-EE1A-2BA79C058331}"/>
              </a:ext>
            </a:extLst>
          </p:cNvPr>
          <p:cNvSpPr txBox="1"/>
          <p:nvPr/>
        </p:nvSpPr>
        <p:spPr>
          <a:xfrm>
            <a:off x="3833117" y="360213"/>
            <a:ext cx="5375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Positional Encoding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D90D5-EC23-18FB-B082-1851A2399A8D}"/>
              </a:ext>
            </a:extLst>
          </p:cNvPr>
          <p:cNvSpPr txBox="1"/>
          <p:nvPr/>
        </p:nvSpPr>
        <p:spPr>
          <a:xfrm>
            <a:off x="301349" y="1533831"/>
            <a:ext cx="635509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Transformers process all tokens in parallel and do not have inherent word order.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Positional encodings inject information about token position into embeddings.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Typically implemented using sine and cosine functions of different frequencies.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encodings are added directly to word embeddings.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allows the model to distinguish between “dog bites man” and “man bites dog”.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68617-D300-446D-C95C-9FEF3A028C0A}"/>
              </a:ext>
            </a:extLst>
          </p:cNvPr>
          <p:cNvSpPr txBox="1"/>
          <p:nvPr/>
        </p:nvSpPr>
        <p:spPr>
          <a:xfrm>
            <a:off x="7649496" y="6061454"/>
            <a:ext cx="3785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hlinkClick r:id="rId2"/>
              </a:rPr>
              <a:t>transformer_demo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1E2A8F-34D0-7C72-3595-A98AA9932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8209" y="1930230"/>
            <a:ext cx="5132442" cy="256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43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3DDD9-D019-F261-D9B5-4E466D586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C8D836-5812-94C4-9847-BFDA4E83C8EC}"/>
              </a:ext>
            </a:extLst>
          </p:cNvPr>
          <p:cNvSpPr txBox="1"/>
          <p:nvPr/>
        </p:nvSpPr>
        <p:spPr>
          <a:xfrm>
            <a:off x="4142325" y="347215"/>
            <a:ext cx="4313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Contextual Embeddings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09709C-4EA5-FF45-5F72-650009A80A73}"/>
              </a:ext>
            </a:extLst>
          </p:cNvPr>
          <p:cNvSpPr txBox="1"/>
          <p:nvPr/>
        </p:nvSpPr>
        <p:spPr>
          <a:xfrm>
            <a:off x="301349" y="1533831"/>
            <a:ext cx="635509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Contextual embeddings generate different vectors for the same word based on context.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Unlike Word2Vec or </a:t>
            </a:r>
            <a:r>
              <a:rPr lang="en-US" dirty="0" err="1"/>
              <a:t>GloVe</a:t>
            </a:r>
            <a:r>
              <a:rPr lang="en-US" dirty="0"/>
              <a:t>, meaning is not fixed per 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Example: bank in “river bank” vs “bank account” gets different embeddings.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Generated using deep models like Transformers.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enables true semantic understanding in modern NLP systems.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5E6B49-393B-4DD9-17A2-BF415013FEDE}"/>
              </a:ext>
            </a:extLst>
          </p:cNvPr>
          <p:cNvSpPr txBox="1"/>
          <p:nvPr/>
        </p:nvSpPr>
        <p:spPr>
          <a:xfrm>
            <a:off x="7649496" y="6061454"/>
            <a:ext cx="3785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hlinkClick r:id="rId2"/>
              </a:rPr>
              <a:t>transformer_demo</a:t>
            </a:r>
            <a:endParaRPr lang="en-IN" dirty="0"/>
          </a:p>
        </p:txBody>
      </p:sp>
      <p:pic>
        <p:nvPicPr>
          <p:cNvPr id="3074" name="Picture 2" descr="Article content">
            <a:extLst>
              <a:ext uri="{FF2B5EF4-FFF2-40B4-BE49-F238E27FC236}">
                <a16:creationId xmlns:a16="http://schemas.microsoft.com/office/drawing/2014/main" id="{A2CDD29B-1C82-C770-DBDC-D95D0C533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097" y="1789780"/>
            <a:ext cx="5268589" cy="3160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3039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9CBA6-81AB-EF44-327B-19CD8A2E6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D55821-1D2F-7F62-55FD-9B1E2E76F161}"/>
              </a:ext>
            </a:extLst>
          </p:cNvPr>
          <p:cNvSpPr txBox="1"/>
          <p:nvPr/>
        </p:nvSpPr>
        <p:spPr>
          <a:xfrm>
            <a:off x="4142325" y="347215"/>
            <a:ext cx="4313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Encoder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D1651A-6371-125D-C969-8C3123D21906}"/>
              </a:ext>
            </a:extLst>
          </p:cNvPr>
          <p:cNvSpPr txBox="1"/>
          <p:nvPr/>
        </p:nvSpPr>
        <p:spPr>
          <a:xfrm>
            <a:off x="266690" y="1155473"/>
            <a:ext cx="775127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Encoder reads the entire input sequence at once.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converts tokens into context-aware representations.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self-attention to relate every word with every other 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Positional encodings inject word order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Encoder outputs are rich embeddings used for understanding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Typical use-cases</a:t>
            </a:r>
          </a:p>
          <a:p>
            <a:endParaRPr lang="en-US" dirty="0"/>
          </a:p>
          <a:p>
            <a:r>
              <a:rPr lang="en-US" dirty="0"/>
              <a:t>Text classification</a:t>
            </a:r>
          </a:p>
          <a:p>
            <a:endParaRPr lang="en-US" dirty="0"/>
          </a:p>
          <a:p>
            <a:r>
              <a:rPr lang="en-US" dirty="0"/>
              <a:t>Named Entity Recognition</a:t>
            </a:r>
          </a:p>
          <a:p>
            <a:endParaRPr lang="en-US" dirty="0"/>
          </a:p>
          <a:p>
            <a:r>
              <a:rPr lang="en-US" dirty="0"/>
              <a:t>Semantic search</a:t>
            </a:r>
          </a:p>
          <a:p>
            <a:endParaRPr lang="en-US" dirty="0"/>
          </a:p>
          <a:p>
            <a:r>
              <a:rPr lang="en-US" dirty="0"/>
              <a:t>Sentence embeddings.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1A70B-E0D3-0A87-574D-909C7ED9ACD9}"/>
              </a:ext>
            </a:extLst>
          </p:cNvPr>
          <p:cNvSpPr txBox="1"/>
          <p:nvPr/>
        </p:nvSpPr>
        <p:spPr>
          <a:xfrm>
            <a:off x="7649496" y="6061454"/>
            <a:ext cx="3785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hlinkClick r:id="rId2"/>
              </a:rPr>
              <a:t>transformer_demo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F06C25-A8FD-8955-C9E8-3FFCE0551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5543" y="808880"/>
            <a:ext cx="3101609" cy="49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260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4519B-EABF-2E61-CAC7-92FB7F17F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B985BA-63D1-47B5-0C95-9F1EB7F002F2}"/>
              </a:ext>
            </a:extLst>
          </p:cNvPr>
          <p:cNvSpPr txBox="1"/>
          <p:nvPr/>
        </p:nvSpPr>
        <p:spPr>
          <a:xfrm>
            <a:off x="4496286" y="205263"/>
            <a:ext cx="4313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Decoder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3A633F-7800-4EF9-0925-0E208277039F}"/>
              </a:ext>
            </a:extLst>
          </p:cNvPr>
          <p:cNvSpPr txBox="1"/>
          <p:nvPr/>
        </p:nvSpPr>
        <p:spPr>
          <a:xfrm>
            <a:off x="266690" y="1155473"/>
            <a:ext cx="775127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Decoder generates text token by token.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masked self-attention to prevent seeing future tokens.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Attends to encoder outputs using cross-attention.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Learns how to generate coherent and fluent sequences.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output depends on previously generated tokens.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Typical use-cases</a:t>
            </a:r>
          </a:p>
          <a:p>
            <a:endParaRPr lang="en-US" dirty="0"/>
          </a:p>
          <a:p>
            <a:r>
              <a:rPr lang="en-US" dirty="0"/>
              <a:t>Text generation</a:t>
            </a:r>
          </a:p>
          <a:p>
            <a:endParaRPr lang="en-US" dirty="0"/>
          </a:p>
          <a:p>
            <a:r>
              <a:rPr lang="en-US" dirty="0"/>
              <a:t>Translation</a:t>
            </a:r>
          </a:p>
          <a:p>
            <a:endParaRPr lang="en-US" dirty="0"/>
          </a:p>
          <a:p>
            <a:r>
              <a:rPr lang="en-US" dirty="0"/>
              <a:t>Summarization</a:t>
            </a:r>
          </a:p>
          <a:p>
            <a:endParaRPr lang="en-US" dirty="0"/>
          </a:p>
          <a:p>
            <a:r>
              <a:rPr lang="en-US" dirty="0"/>
              <a:t>Chatbots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1BE7F6-B1EE-BBCB-8B01-3976731A255D}"/>
              </a:ext>
            </a:extLst>
          </p:cNvPr>
          <p:cNvSpPr txBox="1"/>
          <p:nvPr/>
        </p:nvSpPr>
        <p:spPr>
          <a:xfrm>
            <a:off x="7649496" y="6061454"/>
            <a:ext cx="3785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hlinkClick r:id="rId2"/>
              </a:rPr>
              <a:t>transformer_demo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7EE51E-DB25-71FF-7A2C-D44262DBE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495" y="1113021"/>
            <a:ext cx="2900517" cy="486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870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1D0B93-7247-FD37-651D-70EFED59EA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341148"/>
              </p:ext>
            </p:extLst>
          </p:nvPr>
        </p:nvGraphicFramePr>
        <p:xfrm>
          <a:off x="838200" y="1977815"/>
          <a:ext cx="10515600" cy="3921536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3476109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1044979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3151658"/>
                    </a:ext>
                  </a:extLst>
                </a:gridCol>
              </a:tblGrid>
              <a:tr h="490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BERT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GPT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540615"/>
                  </a:ext>
                </a:extLst>
              </a:tr>
              <a:tr h="490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Encoder-only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Decoder-only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108352"/>
                  </a:ext>
                </a:extLst>
              </a:tr>
              <a:tr h="490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Attention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Bidirectional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Unidirectional (causal)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700062"/>
                  </a:ext>
                </a:extLst>
              </a:tr>
              <a:tr h="490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Training 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Masked Language </a:t>
                      </a:r>
                      <a:r>
                        <a:rPr lang="en-IN" dirty="0" err="1"/>
                        <a:t>Modeling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Next Token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800355"/>
                  </a:ext>
                </a:extLst>
              </a:tr>
              <a:tr h="490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Language understanding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Language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0156177"/>
                  </a:ext>
                </a:extLst>
              </a:tr>
              <a:tr h="490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Reads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Entire sentence at once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Left-to-right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558561"/>
                  </a:ext>
                </a:extLst>
              </a:tr>
              <a:tr h="490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Typical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Classification, NER,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Chat, Writing,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889623"/>
                  </a:ext>
                </a:extLst>
              </a:tr>
              <a:tr h="490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Output Style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Embeddings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Generated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94475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4C42AAC-F751-84D9-E56A-16F812C95C13}"/>
              </a:ext>
            </a:extLst>
          </p:cNvPr>
          <p:cNvSpPr txBox="1"/>
          <p:nvPr/>
        </p:nvSpPr>
        <p:spPr>
          <a:xfrm>
            <a:off x="4250479" y="313417"/>
            <a:ext cx="4313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BERT vs GPT</a:t>
            </a:r>
          </a:p>
        </p:txBody>
      </p:sp>
    </p:spTree>
    <p:extLst>
      <p:ext uri="{BB962C8B-B14F-4D97-AF65-F5344CB8AC3E}">
        <p14:creationId xmlns:p14="http://schemas.microsoft.com/office/powerpoint/2010/main" val="1091532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99C84-06FC-BECC-A988-4C9091050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7DC11F-4209-A9E2-2175-8CB8833A55DE}"/>
              </a:ext>
            </a:extLst>
          </p:cNvPr>
          <p:cNvSpPr txBox="1"/>
          <p:nvPr/>
        </p:nvSpPr>
        <p:spPr>
          <a:xfrm>
            <a:off x="4354227" y="275969"/>
            <a:ext cx="5025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Forward Pass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C816B1-68DC-5F21-3B41-F4666867C51A}"/>
              </a:ext>
            </a:extLst>
          </p:cNvPr>
          <p:cNvSpPr txBox="1"/>
          <p:nvPr/>
        </p:nvSpPr>
        <p:spPr>
          <a:xfrm>
            <a:off x="139648" y="1326811"/>
            <a:ext cx="55881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forward pass is the complete journey of data from input tokens to output scores inside the Transformer.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Tokens are first converted into embeddings so that the model can work with numbers instead of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embeddings pass through multiple layers that gradually refine the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layer improves the model’s understanding of context and relationships between 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final output of the forward pass is a set of raw scores called logits.</a:t>
            </a:r>
            <a:endParaRPr lang="en-IN" dirty="0"/>
          </a:p>
        </p:txBody>
      </p:sp>
      <p:pic>
        <p:nvPicPr>
          <p:cNvPr id="6146" name="Picture 2" descr="Journey of a single token through the LLM Architecture">
            <a:extLst>
              <a:ext uri="{FF2B5EF4-FFF2-40B4-BE49-F238E27FC236}">
                <a16:creationId xmlns:a16="http://schemas.microsoft.com/office/drawing/2014/main" id="{B9DD8D4F-3E95-27E7-777E-F0634A150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176" y="1304688"/>
            <a:ext cx="5588176" cy="3970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261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18231-E9B2-1D84-0986-92537F121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CC3119-37D9-3940-6EC7-BB29B6B9B6CE}"/>
              </a:ext>
            </a:extLst>
          </p:cNvPr>
          <p:cNvSpPr txBox="1"/>
          <p:nvPr/>
        </p:nvSpPr>
        <p:spPr>
          <a:xfrm>
            <a:off x="4354227" y="275969"/>
            <a:ext cx="5025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Logits and Next Token Prediction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5A62CF-4D45-4099-D83A-35885C21F6F8}"/>
              </a:ext>
            </a:extLst>
          </p:cNvPr>
          <p:cNvSpPr txBox="1"/>
          <p:nvPr/>
        </p:nvSpPr>
        <p:spPr>
          <a:xfrm>
            <a:off x="1353400" y="1641986"/>
            <a:ext cx="10838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Logits are numerical scores produced by the model for every possible token in the vocabulary.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higher logit value means the model believes that token is more likely to come next.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Logits are not probabilities and cannot be interpreted directly by humans.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dirty="0" err="1"/>
              <a:t>softmax</a:t>
            </a:r>
            <a:r>
              <a:rPr lang="en-US" dirty="0"/>
              <a:t> function converts logits into probabilities that sum to 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model uses these probabilities to choose the next token.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0409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271CF-0FCE-300B-B0CD-C0AF70B7C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233BD9-D946-0113-C94C-9A6AA3BBBA65}"/>
              </a:ext>
            </a:extLst>
          </p:cNvPr>
          <p:cNvSpPr txBox="1"/>
          <p:nvPr/>
        </p:nvSpPr>
        <p:spPr>
          <a:xfrm>
            <a:off x="4354227" y="275969"/>
            <a:ext cx="50257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Text Generation</a:t>
            </a:r>
          </a:p>
          <a:p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18DAA5-A5EE-98A8-7039-F5E3F25BE889}"/>
              </a:ext>
            </a:extLst>
          </p:cNvPr>
          <p:cNvSpPr txBox="1"/>
          <p:nvPr/>
        </p:nvSpPr>
        <p:spPr>
          <a:xfrm>
            <a:off x="547154" y="1719144"/>
            <a:ext cx="1013067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model generates text one token at a time instead of generating a full sentence at once.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each prediction, the new token is appended to the input sequence.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expanded sequence is passed through the model again.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process repeats until a stopping condition is met.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Continuous repetition creates fluent and coherent text.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4334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96830-E8CF-5E09-6505-8D3D780E5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809068-F829-8D6E-2969-CCA3F91D0184}"/>
              </a:ext>
            </a:extLst>
          </p:cNvPr>
          <p:cNvSpPr txBox="1"/>
          <p:nvPr/>
        </p:nvSpPr>
        <p:spPr>
          <a:xfrm>
            <a:off x="3911776" y="295633"/>
            <a:ext cx="5025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Pipeline API vs Low-Level API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DB4B0B-6632-D406-8DF4-2CC3DC340969}"/>
              </a:ext>
            </a:extLst>
          </p:cNvPr>
          <p:cNvSpPr txBox="1"/>
          <p:nvPr/>
        </p:nvSpPr>
        <p:spPr>
          <a:xfrm>
            <a:off x="556986" y="1504334"/>
            <a:ext cx="1078943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pipeline API provides a simple interface that hides many implementation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ideal for demonstrations, prototypes, and learning experiments.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low-level API exposes tokenization, model inputs, and outputs.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gives developers more control over performance and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Production systems typically rely on low-level APIs.</a:t>
            </a:r>
          </a:p>
        </p:txBody>
      </p:sp>
    </p:spTree>
    <p:extLst>
      <p:ext uri="{BB962C8B-B14F-4D97-AF65-F5344CB8AC3E}">
        <p14:creationId xmlns:p14="http://schemas.microsoft.com/office/powerpoint/2010/main" val="4096341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213AE-3D88-56DA-23A5-6B0DB05D2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49F1046-71E8-C6BD-6D39-EE5939BDFF28}"/>
              </a:ext>
            </a:extLst>
          </p:cNvPr>
          <p:cNvSpPr txBox="1"/>
          <p:nvPr/>
        </p:nvSpPr>
        <p:spPr>
          <a:xfrm>
            <a:off x="924233" y="235626"/>
            <a:ext cx="9891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Text data : Through </a:t>
            </a:r>
            <a:r>
              <a:rPr lang="en-IN" sz="2800" dirty="0" err="1"/>
              <a:t>lense</a:t>
            </a:r>
            <a:r>
              <a:rPr lang="en-IN" sz="2800" dirty="0"/>
              <a:t> of LLM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C68FD2-87ED-7418-9499-BE2F642533A3}"/>
              </a:ext>
            </a:extLst>
          </p:cNvPr>
          <p:cNvSpPr txBox="1"/>
          <p:nvPr/>
        </p:nvSpPr>
        <p:spPr>
          <a:xfrm>
            <a:off x="216311" y="1305341"/>
            <a:ext cx="614516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 is unstructured — no fixed format or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LLMs don’t "read" text like humans 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 is first tokenized into smaller units (words, </a:t>
            </a:r>
            <a:r>
              <a:rPr lang="en-US" dirty="0" err="1"/>
              <a:t>subwords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token is converted into vectors (numerical form)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vectors capture semantic meaning and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Vectors flow through multiple layers in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 output is based on pattern recognition in vector space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B51BB0-F04F-1AE7-C9F7-07E252580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130" y="1708040"/>
            <a:ext cx="5535559" cy="288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372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E0855-5E4B-6F7F-3B73-C2F3ED07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D61777-B84A-6499-F83A-5DB5F77C4D9C}"/>
              </a:ext>
            </a:extLst>
          </p:cNvPr>
          <p:cNvSpPr txBox="1"/>
          <p:nvPr/>
        </p:nvSpPr>
        <p:spPr>
          <a:xfrm>
            <a:off x="1150374" y="0"/>
            <a:ext cx="9891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LLM Internals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8145BB-2C9C-99EE-9EC0-64F22404C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786" y="523220"/>
            <a:ext cx="9312425" cy="31366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8062C9-98DF-8D20-FE4F-E1AF6F86C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219" y="3766617"/>
            <a:ext cx="5464013" cy="25681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FCB600-A564-4C5C-10A4-553D10BA2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735" y="3871634"/>
            <a:ext cx="4672232" cy="26387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71D484-84E9-7117-1D8D-8B2026CCC32E}"/>
              </a:ext>
            </a:extLst>
          </p:cNvPr>
          <p:cNvSpPr txBox="1"/>
          <p:nvPr/>
        </p:nvSpPr>
        <p:spPr>
          <a:xfrm>
            <a:off x="10568315" y="6531492"/>
            <a:ext cx="16236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Source : </a:t>
            </a:r>
            <a:r>
              <a:rPr lang="en-IN" sz="800" b="0" i="0" u="none" strike="noStrike" dirty="0">
                <a:effectLst/>
                <a:latin typeface="Roboto" panose="02000000000000000000" pitchFamily="2" charset="0"/>
                <a:hlinkClick r:id="rId5"/>
              </a:rPr>
              <a:t>https://karpathy.ai/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3268008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A06EB-3D85-B7C5-4CDD-16DC64A5A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7A7406-14CF-54F8-3FC9-FE4C7CA24D78}"/>
              </a:ext>
            </a:extLst>
          </p:cNvPr>
          <p:cNvSpPr txBox="1"/>
          <p:nvPr/>
        </p:nvSpPr>
        <p:spPr>
          <a:xfrm>
            <a:off x="924233" y="235626"/>
            <a:ext cx="9891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Interesting Facts about LLM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5D3231-5E82-9DD8-4770-D13573C581FF}"/>
              </a:ext>
            </a:extLst>
          </p:cNvPr>
          <p:cNvSpPr txBox="1"/>
          <p:nvPr/>
        </p:nvSpPr>
        <p:spPr>
          <a:xfrm>
            <a:off x="117987" y="1582340"/>
            <a:ext cx="712838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🧠 LLMs are not fact-checkers — they generate, not verify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🔁 Every response is unique — no fixed output for same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🎭 They can hallucinate — may create fake info with confidence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➗ Don’t “calculate” like a calculator — rely on pattern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📚 Learn from massive data, not real-time experiences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🧮 Use statistical correlations, not reasoning or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🔧 Not intelligent by nature — just rigorously trained models</a:t>
            </a:r>
            <a:endParaRPr lang="en-IN" dirty="0"/>
          </a:p>
        </p:txBody>
      </p:sp>
      <p:pic>
        <p:nvPicPr>
          <p:cNvPr id="6146" name="Picture 2" descr="LLMs Are Dumb. | Medium">
            <a:extLst>
              <a:ext uri="{FF2B5EF4-FFF2-40B4-BE49-F238E27FC236}">
                <a16:creationId xmlns:a16="http://schemas.microsoft.com/office/drawing/2014/main" id="{44EF6119-1DBB-068A-8ABC-EDFC41FE2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864" y="1827407"/>
            <a:ext cx="4316362" cy="3203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6422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B62D6-76EA-88C0-896B-1DAAD8528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66635E-C749-F5E5-C946-DF803778D0B0}"/>
              </a:ext>
            </a:extLst>
          </p:cNvPr>
          <p:cNvSpPr txBox="1"/>
          <p:nvPr/>
        </p:nvSpPr>
        <p:spPr>
          <a:xfrm>
            <a:off x="530942" y="235626"/>
            <a:ext cx="9891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Prompt Engineering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6413D0-8341-7DE8-9289-7AD4B9E6AA9A}"/>
              </a:ext>
            </a:extLst>
          </p:cNvPr>
          <p:cNvSpPr txBox="1"/>
          <p:nvPr/>
        </p:nvSpPr>
        <p:spPr>
          <a:xfrm>
            <a:off x="117987" y="1582340"/>
            <a:ext cx="712838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🛠️ Acts as the instruction manual for LLMs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🎯 Helps steer output toward desired goals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📈 Boosts accuracy, relevance, and reliability of responses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🧩 Enables complex tasks like summarization, coding, Q&amp;A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🔍 Small changes in prompts can lead to big output differences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🧠 Bridges human intent with model 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⚙️ Foundation for building apps with LLMs (RAG, agents, etc.)</a:t>
            </a:r>
            <a:endParaRPr lang="en-IN" dirty="0"/>
          </a:p>
        </p:txBody>
      </p:sp>
      <p:pic>
        <p:nvPicPr>
          <p:cNvPr id="7170" name="Picture 2" descr="Prompt Engineering: Some Prompts Are More Equal Than Others ...">
            <a:extLst>
              <a:ext uri="{FF2B5EF4-FFF2-40B4-BE49-F238E27FC236}">
                <a16:creationId xmlns:a16="http://schemas.microsoft.com/office/drawing/2014/main" id="{6282CDF3-F5CD-184E-5DD6-803E5D44A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1071" y="1698828"/>
            <a:ext cx="4442338" cy="3236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5399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5DA26-3BF8-1584-5392-08CE8471E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EDE103-5DB8-282C-175C-40A0FA3635B8}"/>
              </a:ext>
            </a:extLst>
          </p:cNvPr>
          <p:cNvSpPr txBox="1"/>
          <p:nvPr/>
        </p:nvSpPr>
        <p:spPr>
          <a:xfrm>
            <a:off x="1268361" y="235626"/>
            <a:ext cx="9891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Prompt Drift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E6D7AF-DED9-17D7-1BD0-AC6FFB52215F}"/>
              </a:ext>
            </a:extLst>
          </p:cNvPr>
          <p:cNvSpPr txBox="1"/>
          <p:nvPr/>
        </p:nvSpPr>
        <p:spPr>
          <a:xfrm>
            <a:off x="117987" y="1582340"/>
            <a:ext cx="712838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🔄 Prompt drift happens when model responses slowly go off-topic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🧠 LLM loses focus from the original instruction over long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📉 Reduces output quality, accuracy, and coherence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📝 Caused by unclear prompts or extended dialogues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✅ Use few-shot examples, system prompts, or re-anchoring to fix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🧩 Important in long-form chats, coding, and content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🔁 Reset or reframe the prompt periodically to regain control</a:t>
            </a:r>
            <a:endParaRPr lang="en-IN" dirty="0"/>
          </a:p>
        </p:txBody>
      </p:sp>
      <p:pic>
        <p:nvPicPr>
          <p:cNvPr id="8194" name="Picture 2" descr="Prompt Drift. The notion to create ...">
            <a:extLst>
              <a:ext uri="{FF2B5EF4-FFF2-40B4-BE49-F238E27FC236}">
                <a16:creationId xmlns:a16="http://schemas.microsoft.com/office/drawing/2014/main" id="{211063BF-3DCC-D7BB-9730-98C744F12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613" y="2091082"/>
            <a:ext cx="3985290" cy="2675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5AEB59-61A6-9D3F-1EA5-229D6526E149}"/>
              </a:ext>
            </a:extLst>
          </p:cNvPr>
          <p:cNvSpPr txBox="1"/>
          <p:nvPr/>
        </p:nvSpPr>
        <p:spPr>
          <a:xfrm>
            <a:off x="7826477" y="5218357"/>
            <a:ext cx="40902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Source : https://cobusgreyling.medium.com/prompt-drift-4873f37c43c8</a:t>
            </a:r>
          </a:p>
        </p:txBody>
      </p:sp>
    </p:spTree>
    <p:extLst>
      <p:ext uri="{BB962C8B-B14F-4D97-AF65-F5344CB8AC3E}">
        <p14:creationId xmlns:p14="http://schemas.microsoft.com/office/powerpoint/2010/main" val="10474421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B24A6-E7E9-F845-3FAE-05B0A9097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C716D5-B204-1762-ABA3-B3A046775AC7}"/>
              </a:ext>
            </a:extLst>
          </p:cNvPr>
          <p:cNvSpPr txBox="1"/>
          <p:nvPr/>
        </p:nvSpPr>
        <p:spPr>
          <a:xfrm>
            <a:off x="4354227" y="275969"/>
            <a:ext cx="5025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Memory-Efficient Inference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91B89B-0F7A-267B-5836-A595FBA5F154}"/>
              </a:ext>
            </a:extLst>
          </p:cNvPr>
          <p:cNvSpPr txBox="1"/>
          <p:nvPr/>
        </p:nvSpPr>
        <p:spPr>
          <a:xfrm>
            <a:off x="556987" y="1504334"/>
            <a:ext cx="109762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 language models require significant memory to run.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GPUs offer faster inference but are costly and limited.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CPUs are slower but more widely available.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Quantization reduces numerical precision to save memory.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Techniques like 8-bit loading enable efficient inference.</a:t>
            </a:r>
          </a:p>
        </p:txBody>
      </p:sp>
    </p:spTree>
    <p:extLst>
      <p:ext uri="{BB962C8B-B14F-4D97-AF65-F5344CB8AC3E}">
        <p14:creationId xmlns:p14="http://schemas.microsoft.com/office/powerpoint/2010/main" val="31792573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70A0A-B446-492B-CD78-7F4965AF7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EDA1A7-E91F-6039-8DDA-AC10CBFE7141}"/>
              </a:ext>
            </a:extLst>
          </p:cNvPr>
          <p:cNvSpPr txBox="1"/>
          <p:nvPr/>
        </p:nvSpPr>
        <p:spPr>
          <a:xfrm>
            <a:off x="4354227" y="275969"/>
            <a:ext cx="5025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Real-World Use Cases</a:t>
            </a:r>
          </a:p>
        </p:txBody>
      </p:sp>
      <p:pic>
        <p:nvPicPr>
          <p:cNvPr id="11266" name="Picture 2" descr="7 Real-Time Data Use Cases for LLM-Powered Applications">
            <a:extLst>
              <a:ext uri="{FF2B5EF4-FFF2-40B4-BE49-F238E27FC236}">
                <a16:creationId xmlns:a16="http://schemas.microsoft.com/office/drawing/2014/main" id="{8ACDC185-8B92-8A08-FDDC-D982E80B3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342" y="1347018"/>
            <a:ext cx="8819535" cy="4370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9515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E24CD-B3AB-510A-9213-424F30D83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D18F6B-157C-5779-3AA3-520232BB82A8}"/>
              </a:ext>
            </a:extLst>
          </p:cNvPr>
          <p:cNvSpPr txBox="1"/>
          <p:nvPr/>
        </p:nvSpPr>
        <p:spPr>
          <a:xfrm>
            <a:off x="4354227" y="275969"/>
            <a:ext cx="5025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What Is Hugging 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10F03E-502C-BA8E-D42E-431B67FD7339}"/>
              </a:ext>
            </a:extLst>
          </p:cNvPr>
          <p:cNvSpPr txBox="1"/>
          <p:nvPr/>
        </p:nvSpPr>
        <p:spPr>
          <a:xfrm>
            <a:off x="556987" y="1504334"/>
            <a:ext cx="53753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Hugging Face</a:t>
            </a:r>
            <a:r>
              <a:rPr lang="en-US" dirty="0"/>
              <a:t> is an open-source platform for working with modern AI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provides tools to use, train, and share Transformer models easily.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Hugging Face makes complex models accessible with simple APIs.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widely used in research, industry, and education.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popular LLMs are available through Hugging Face.</a:t>
            </a:r>
          </a:p>
        </p:txBody>
      </p:sp>
      <p:pic>
        <p:nvPicPr>
          <p:cNvPr id="8195" name="Picture 3" descr="What is Hugging Face? | IBM">
            <a:extLst>
              <a:ext uri="{FF2B5EF4-FFF2-40B4-BE49-F238E27FC236}">
                <a16:creationId xmlns:a16="http://schemas.microsoft.com/office/drawing/2014/main" id="{92726D9B-C232-48D8-75F2-E8BAC1933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995" y="2157682"/>
            <a:ext cx="3239268" cy="212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3063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6FC80-1BF7-9DBD-85B7-2B0F9B2AE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D5098A-A4B0-EDAB-ECAC-41FD06E6D4A7}"/>
              </a:ext>
            </a:extLst>
          </p:cNvPr>
          <p:cNvSpPr txBox="1"/>
          <p:nvPr/>
        </p:nvSpPr>
        <p:spPr>
          <a:xfrm>
            <a:off x="3875861" y="209977"/>
            <a:ext cx="4802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Hugging Face Model Hub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1BE4EF-0691-FFCC-4361-AE844C0BB1D6}"/>
              </a:ext>
            </a:extLst>
          </p:cNvPr>
          <p:cNvSpPr txBox="1"/>
          <p:nvPr/>
        </p:nvSpPr>
        <p:spPr>
          <a:xfrm>
            <a:off x="556987" y="1504334"/>
            <a:ext cx="53753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Model Hub is a repository of pre-trained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Models are shared for tasks like text generation and classification.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model comes with documentation called a model card.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Users can download models with just a few lines of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avoids training large models from scratch.</a:t>
            </a:r>
          </a:p>
        </p:txBody>
      </p:sp>
      <p:pic>
        <p:nvPicPr>
          <p:cNvPr id="9218" name="Picture 2" descr="Model Cards">
            <a:extLst>
              <a:ext uri="{FF2B5EF4-FFF2-40B4-BE49-F238E27FC236}">
                <a16:creationId xmlns:a16="http://schemas.microsoft.com/office/drawing/2014/main" id="{5C879C4F-8EB1-4F70-2D44-7B44E10BC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305" y="1660347"/>
            <a:ext cx="5492779" cy="3332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725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1577</Words>
  <Application>Microsoft Office PowerPoint</Application>
  <PresentationFormat>Widescreen</PresentationFormat>
  <Paragraphs>323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Roboto</vt:lpstr>
      <vt:lpstr>Office Theme</vt:lpstr>
      <vt:lpstr>Transformers  LLM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satej raste</dc:creator>
  <cp:lastModifiedBy>satej raste</cp:lastModifiedBy>
  <cp:revision>3</cp:revision>
  <dcterms:created xsi:type="dcterms:W3CDTF">2026-01-11T15:29:42Z</dcterms:created>
  <dcterms:modified xsi:type="dcterms:W3CDTF">2026-01-16T07:18:49Z</dcterms:modified>
</cp:coreProperties>
</file>