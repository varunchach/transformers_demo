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2"/>
  </p:normalViewPr>
  <p:slideViewPr>
    <p:cSldViewPr snapToGrid="0">
      <p:cViewPr varScale="1">
        <p:scale>
          <a:sx n="126" d="100"/>
          <a:sy n="126" d="100"/>
        </p:scale>
        <p:origin x="23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1780F-D47E-E61C-E53E-4EB9040456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36B94-B030-8A37-3596-1BA247885F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DB774-4A58-70DF-E381-1714F50A1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F2B5C-C6AC-A343-86DF-0B8A9E72AD25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48BA-22E1-8EA4-0CC4-1D4069D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F62A9-BD23-7B51-E73F-416639F92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7805A-B36A-E547-B97B-2BEA536C9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92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FD282-D276-091F-04F0-F335170D0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43C0A-8248-552F-F448-E0AA4AB90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1F446-E4D2-4518-F519-4FCAB65C9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F2B5C-C6AC-A343-86DF-0B8A9E72AD25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0DDD3-5404-B3D8-0DAF-322FCB9CB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FB1A2-F93B-0A15-6EE7-9CBC41171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7805A-B36A-E547-B97B-2BEA536C9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41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662F6-4898-0F6C-27D9-4C7C0CBAD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53F35-3B1D-474A-75C4-F76E22915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94599-AA65-3AFE-4ECB-52EC1DA75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F2B5C-C6AC-A343-86DF-0B8A9E72AD25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A96F2-E41A-A0B6-FBB1-14F4EC5DA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01387-BFD4-979F-C175-16598ACB8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7805A-B36A-E547-B97B-2BEA536C9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468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B2C22-8DBF-03E3-DB2A-4AFCC7D87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D2D38-11D4-17C0-3BB7-68673ED76E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D406BF-9D64-6517-59C0-68972478A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F3CCE-DF4A-78FD-736A-FB9E476F0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F2B5C-C6AC-A343-86DF-0B8A9E72AD25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73369-8D9B-2951-54D4-DB9081758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8EACE8-79CF-D369-0602-2F77EACA6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7805A-B36A-E547-B97B-2BEA536C9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620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F40FE-A34D-9A21-4654-7255CFC8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9027A-F915-1E50-4FA0-E01277868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5D3EC-E067-B84F-069A-645DBEBAC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9B2E7B-480F-38E9-E957-2D32E6C272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0A6B06-8979-E1B8-B10F-43CD06A518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758006-D42A-458C-DC30-72B89DE70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F2B5C-C6AC-A343-86DF-0B8A9E72AD25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B05007-19DD-868E-2F14-2352E6F22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1AF5CB-5178-83FE-2C99-5F35886AC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7805A-B36A-E547-B97B-2BEA536C9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489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CB7DC-111C-4CBC-EFF2-CF78CE1B0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C7FB32-270B-6339-5D78-CE87F0514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F2B5C-C6AC-A343-86DF-0B8A9E72AD25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F1E944-A8F4-97D1-0D10-82C2CC4EE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445C93-E115-64CA-42EA-0509D4CE1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7805A-B36A-E547-B97B-2BEA536C9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8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6FFA0B-74F3-A436-0A3A-7E758DF7E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F2B5C-C6AC-A343-86DF-0B8A9E72AD25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5B4F0C-B599-D69E-9AC6-BF90B0A0B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7400E-03C2-AA0D-9A37-78565CD9F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7805A-B36A-E547-B97B-2BEA536C9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681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FE40D-C4D0-08B0-8B6D-F8FF0C5F3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1832E-C435-AF93-29FE-913BE8FFE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822C4A-045B-D0CF-E1CB-6962301CB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5CA43-FB1B-29FF-E190-5B8181BCC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F2B5C-C6AC-A343-86DF-0B8A9E72AD25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8488A-F6A1-2834-F05E-0B5063F54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61719-A841-A331-C6A4-02EF97CDE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7805A-B36A-E547-B97B-2BEA536C9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2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EFBAC-2758-2042-2516-EE8D83F25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3EDF27-A5ED-000B-9541-9D9112B3CD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05B879-4F7A-B1EA-07A6-88C1ACFBB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0A5CF-9A4A-AFC5-94E4-104B4A288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F2B5C-C6AC-A343-86DF-0B8A9E72AD25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3BFD1-210D-8184-237E-56B735355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DD5E3-DE76-CF20-6982-46DBA855F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7805A-B36A-E547-B97B-2BEA536C9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28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295B3-5793-E015-78C2-3ACB1DD0B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5EBADC-283F-7672-30CA-8962D1850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8ACEC-FD75-C2D8-FBC9-964DBC35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F2B5C-C6AC-A343-86DF-0B8A9E72AD25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7CCBC-DF6D-A1A2-7ACE-D3C3C13FC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1798A-2911-1CC4-9B7B-97592BC79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7805A-B36A-E547-B97B-2BEA536C9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18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C7F80B-1FAB-B11B-2F72-0CC23A105E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E6D88A-7887-CDA5-7818-EF14E27FE0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32D77-D524-991E-0B4C-26132E06F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F2B5C-C6AC-A343-86DF-0B8A9E72AD25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90438-536E-9F36-9106-22475419C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53F8B-3997-1BF1-8C6B-124C0D768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7805A-B36A-E547-B97B-2BEA536C9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093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013CAF-AD31-773A-2D1B-470FDAB3F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4C5DFE-8FAA-467D-3C07-8FC659463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BE55A-6041-E880-7890-F2A4972B6E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DF2B5C-C6AC-A343-86DF-0B8A9E72AD25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2A634-27D9-E9D5-3981-91A229A169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D0E01-4F54-89C9-E581-1041825D1D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E7805A-B36A-E547-B97B-2BEA536C9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6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E74FA-9A79-69C6-FBA9-FCF49DEB29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NLP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17F464-4D17-933E-15C7-D52871F3B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2864" y="5062029"/>
            <a:ext cx="5321808" cy="673608"/>
          </a:xfrm>
        </p:spPr>
        <p:txBody>
          <a:bodyPr>
            <a:normAutofit/>
          </a:bodyPr>
          <a:lstStyle/>
          <a:p>
            <a:pPr marL="342900" indent="-342900">
              <a:buFontTx/>
              <a:buChar char="-"/>
            </a:pPr>
            <a:r>
              <a:rPr lang="en-US" sz="1400" dirty="0"/>
              <a:t>Varun Raste </a:t>
            </a:r>
          </a:p>
          <a:p>
            <a:r>
              <a:rPr lang="en-US" sz="1400" dirty="0"/>
              <a:t>          Data Scientist</a:t>
            </a:r>
          </a:p>
        </p:txBody>
      </p:sp>
    </p:spTree>
    <p:extLst>
      <p:ext uri="{BB962C8B-B14F-4D97-AF65-F5344CB8AC3E}">
        <p14:creationId xmlns:p14="http://schemas.microsoft.com/office/powerpoint/2010/main" val="1006191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4DCECF-D525-8B68-7731-445887E2889A}"/>
              </a:ext>
            </a:extLst>
          </p:cNvPr>
          <p:cNvSpPr txBox="1"/>
          <p:nvPr/>
        </p:nvSpPr>
        <p:spPr>
          <a:xfrm>
            <a:off x="505968" y="1706878"/>
            <a:ext cx="490118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Natural Language Processing (NLP)</a:t>
            </a:r>
            <a:r>
              <a:rPr lang="en-IN" sz="1400" dirty="0"/>
              <a:t> focuses on enabling machines to read, understand, and generate human language.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It deals with both written text and spoken language, making it central to modern AI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NLP converts unstructured language data into structured representations.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Common applications include chatbots, search engines, recommendation systems, and document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The ultimate goal is to extract </a:t>
            </a:r>
            <a:r>
              <a:rPr lang="en-IN" sz="1400" i="1" dirty="0"/>
              <a:t>meaning</a:t>
            </a:r>
            <a:r>
              <a:rPr lang="en-IN" sz="1400" dirty="0"/>
              <a:t>, not just words.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4E7C68-1F84-097C-6CE3-0EE8FC5A69C8}"/>
              </a:ext>
            </a:extLst>
          </p:cNvPr>
          <p:cNvSpPr txBox="1"/>
          <p:nvPr/>
        </p:nvSpPr>
        <p:spPr>
          <a:xfrm>
            <a:off x="3974592" y="207264"/>
            <a:ext cx="4285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Introduction to NLP</a:t>
            </a:r>
          </a:p>
        </p:txBody>
      </p:sp>
      <p:pic>
        <p:nvPicPr>
          <p:cNvPr id="1026" name="Picture 2" descr="What Are the Applications of NLP? A Deep Dive into AI's Impact">
            <a:extLst>
              <a:ext uri="{FF2B5EF4-FFF2-40B4-BE49-F238E27FC236}">
                <a16:creationId xmlns:a16="http://schemas.microsoft.com/office/drawing/2014/main" id="{FDCF06AD-0D5C-7F6F-E423-F8EEBB83FE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5896" y="1853415"/>
            <a:ext cx="5943600" cy="2815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286877-C9C7-BAFE-FF90-C38AAAF34A2B}"/>
              </a:ext>
            </a:extLst>
          </p:cNvPr>
          <p:cNvSpPr txBox="1"/>
          <p:nvPr/>
        </p:nvSpPr>
        <p:spPr>
          <a:xfrm>
            <a:off x="6967728" y="5316307"/>
            <a:ext cx="405993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All the images in PPT are taken from internet , author doesn’t claim rights*</a:t>
            </a:r>
          </a:p>
        </p:txBody>
      </p:sp>
    </p:spTree>
    <p:extLst>
      <p:ext uri="{BB962C8B-B14F-4D97-AF65-F5344CB8AC3E}">
        <p14:creationId xmlns:p14="http://schemas.microsoft.com/office/powerpoint/2010/main" val="25287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71F11-6926-9D1C-0857-E8020C2F1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F14D62-6E1E-3929-AA63-8AB96604AEBE}"/>
              </a:ext>
            </a:extLst>
          </p:cNvPr>
          <p:cNvSpPr txBox="1"/>
          <p:nvPr/>
        </p:nvSpPr>
        <p:spPr>
          <a:xfrm>
            <a:off x="505968" y="1706878"/>
            <a:ext cx="490118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Human language is inherently ambiguous and context-driven.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The same word can mean different things depending on usage and sentence 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Grammar rules often break in real-world text such as social media or chats.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Sarcasm, slang, abbreviations, and spelling errors make NLP harder.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Machines must learn patterns without explicit linguistic rules.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5F63A6-30BE-20C7-792A-A84B6C385F96}"/>
              </a:ext>
            </a:extLst>
          </p:cNvPr>
          <p:cNvSpPr txBox="1"/>
          <p:nvPr/>
        </p:nvSpPr>
        <p:spPr>
          <a:xfrm>
            <a:off x="3974592" y="207264"/>
            <a:ext cx="4285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Why NLP Is Challenging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0D3E2A-9A0B-6852-6EDD-29A2184C326C}"/>
              </a:ext>
            </a:extLst>
          </p:cNvPr>
          <p:cNvSpPr txBox="1"/>
          <p:nvPr/>
        </p:nvSpPr>
        <p:spPr>
          <a:xfrm>
            <a:off x="6967728" y="5316307"/>
            <a:ext cx="405993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All the images in PPT are taken from internet , author doesn’t claim rights*</a:t>
            </a:r>
          </a:p>
        </p:txBody>
      </p:sp>
      <p:pic>
        <p:nvPicPr>
          <p:cNvPr id="3075" name="Picture 3" descr="Definition and Examples of Ambiguity in English">
            <a:extLst>
              <a:ext uri="{FF2B5EF4-FFF2-40B4-BE49-F238E27FC236}">
                <a16:creationId xmlns:a16="http://schemas.microsoft.com/office/drawing/2014/main" id="{E8F1885D-6BDF-A967-5211-E66D0D1D3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0396" y="1706878"/>
            <a:ext cx="4901184" cy="3267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7712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CB3D3-3B03-B8F9-E2B5-27A8041CC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08CA72-885E-17B3-8C12-97732400F6E9}"/>
              </a:ext>
            </a:extLst>
          </p:cNvPr>
          <p:cNvSpPr txBox="1"/>
          <p:nvPr/>
        </p:nvSpPr>
        <p:spPr>
          <a:xfrm>
            <a:off x="3974592" y="207264"/>
            <a:ext cx="4285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Text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A573F5-7CF2-2C4B-13E5-1CD6B5D4EDD0}"/>
              </a:ext>
            </a:extLst>
          </p:cNvPr>
          <p:cNvSpPr txBox="1"/>
          <p:nvPr/>
        </p:nvSpPr>
        <p:spPr>
          <a:xfrm>
            <a:off x="6967728" y="5316307"/>
            <a:ext cx="405993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All the images in PPT are taken from internet , author doesn’t claim rights*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496C90-36C7-B3FD-CA74-29C040776649}"/>
              </a:ext>
            </a:extLst>
          </p:cNvPr>
          <p:cNvSpPr txBox="1"/>
          <p:nvPr/>
        </p:nvSpPr>
        <p:spPr>
          <a:xfrm>
            <a:off x="467360" y="1853415"/>
            <a:ext cx="4572000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Real-world text data is noisy, inconsistent, and unstructured.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Preprocessing removes unnecessary elements like punctuation and extra spaces.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Text normalization ensures consistency across documents.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/>
              <a:t>Stopword</a:t>
            </a:r>
            <a:r>
              <a:rPr lang="en-IN" sz="1400" dirty="0"/>
              <a:t> removal helps reduce low-information words.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Preprocessing improves model efficiency and accuracy.</a:t>
            </a:r>
          </a:p>
          <a:p>
            <a:endParaRPr lang="en-US" dirty="0"/>
          </a:p>
        </p:txBody>
      </p:sp>
      <p:pic>
        <p:nvPicPr>
          <p:cNvPr id="4099" name="Picture 3" descr="Data Preprocessing | Natural Language Processing | by Basil K Jose ...">
            <a:extLst>
              <a:ext uri="{FF2B5EF4-FFF2-40B4-BE49-F238E27FC236}">
                <a16:creationId xmlns:a16="http://schemas.microsoft.com/office/drawing/2014/main" id="{FA1AE929-1CFD-07D4-FFF2-CA5087CB0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2642" y="1853415"/>
            <a:ext cx="3341838" cy="273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8062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52918-86D4-F25B-D9A9-0348598C8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65F28C-9113-2CF4-9870-92C6F9746377}"/>
              </a:ext>
            </a:extLst>
          </p:cNvPr>
          <p:cNvSpPr txBox="1"/>
          <p:nvPr/>
        </p:nvSpPr>
        <p:spPr>
          <a:xfrm>
            <a:off x="2237232" y="268356"/>
            <a:ext cx="8446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Text Processing – Normalization , Stemming , lemmatization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0EBD01B-0E6A-9D11-F064-CA05EDA4C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327269"/>
              </p:ext>
            </p:extLst>
          </p:nvPr>
        </p:nvGraphicFramePr>
        <p:xfrm>
          <a:off x="838200" y="3137694"/>
          <a:ext cx="10515600" cy="21336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82233189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7302223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640051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Stemming</a:t>
                      </a:r>
                      <a:endParaRPr lang="en-IN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Lemmatization</a:t>
                      </a:r>
                      <a:endParaRPr lang="en-IN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653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Core Idea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Cuts word suffixes mechanically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Uses linguistic rules &amp; vocabulary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941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May produce invalid words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Produces valid dictionary words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862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Very 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Slower than stemming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9387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Higher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0244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i="1"/>
                        <a:t>running → runn</a:t>
                      </a:r>
                      <a:endParaRPr lang="en-IN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i="1" dirty="0"/>
                        <a:t>running → run</a:t>
                      </a:r>
                      <a:endParaRPr lang="en-I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027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Usage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Search, indexing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Semantic analysis, NLP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12460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709B1D5-A716-C1A8-7DE4-55EC83871317}"/>
              </a:ext>
            </a:extLst>
          </p:cNvPr>
          <p:cNvSpPr txBox="1"/>
          <p:nvPr/>
        </p:nvSpPr>
        <p:spPr>
          <a:xfrm>
            <a:off x="838200" y="1670397"/>
            <a:ext cx="90728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Different forms of the same word increase feature space unnecessarily.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Normalization helps group similar words under a common representation.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This step directly impacts search quality and model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657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810177-A252-E9B8-7ED7-36EE657F264E}"/>
              </a:ext>
            </a:extLst>
          </p:cNvPr>
          <p:cNvSpPr txBox="1"/>
          <p:nvPr/>
        </p:nvSpPr>
        <p:spPr>
          <a:xfrm>
            <a:off x="579120" y="1634034"/>
            <a:ext cx="515112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/>
              <a:t>WordCloud</a:t>
            </a:r>
            <a:r>
              <a:rPr lang="en-IN" sz="1400" dirty="0"/>
              <a:t> visualizes word frequency intuitively.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Larger words indicate higher occurrence.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Useful for quick thematic understanding.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Best suited for exploration, not metrics.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D9284D-9EC0-D7CF-533C-9026578D826B}"/>
              </a:ext>
            </a:extLst>
          </p:cNvPr>
          <p:cNvSpPr txBox="1"/>
          <p:nvPr/>
        </p:nvSpPr>
        <p:spPr>
          <a:xfrm>
            <a:off x="579120" y="4347607"/>
            <a:ext cx="515112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Lists most common words numerically.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Helps identify </a:t>
            </a:r>
            <a:r>
              <a:rPr lang="en-IN" sz="1400" dirty="0" err="1"/>
              <a:t>stopwords</a:t>
            </a:r>
            <a:r>
              <a:rPr lang="en-IN" sz="1400" dirty="0"/>
              <a:t> and domain terms.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Enables frequency-based filtering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More precise than </a:t>
            </a:r>
            <a:r>
              <a:rPr lang="en-IN" sz="1400" dirty="0" err="1"/>
              <a:t>WordCloud</a:t>
            </a:r>
            <a:r>
              <a:rPr lang="en-IN" sz="1400" dirty="0"/>
              <a:t>.</a:t>
            </a:r>
          </a:p>
          <a:p>
            <a:endParaRPr lang="en-US" dirty="0"/>
          </a:p>
        </p:txBody>
      </p:sp>
      <p:pic>
        <p:nvPicPr>
          <p:cNvPr id="7171" name="Picture 3" descr="6 — Creating a Word Cloud using TF-IDF in Python | by Aysel Aydin ...">
            <a:extLst>
              <a:ext uri="{FF2B5EF4-FFF2-40B4-BE49-F238E27FC236}">
                <a16:creationId xmlns:a16="http://schemas.microsoft.com/office/drawing/2014/main" id="{EE6E24FE-A7B7-117D-B5EA-01D966AB8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997" y="934720"/>
            <a:ext cx="4140962" cy="234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3" name="Picture 5" descr="NLP - Text Pre-Processing VI (Word ...">
            <a:extLst>
              <a:ext uri="{FF2B5EF4-FFF2-40B4-BE49-F238E27FC236}">
                <a16:creationId xmlns:a16="http://schemas.microsoft.com/office/drawing/2014/main" id="{98C63BD8-591A-295B-465E-C7F72FDBF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997" y="3986530"/>
            <a:ext cx="4244403" cy="234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0277B6-B265-5B55-7C6A-E3748026FF0F}"/>
              </a:ext>
            </a:extLst>
          </p:cNvPr>
          <p:cNvSpPr txBox="1"/>
          <p:nvPr/>
        </p:nvSpPr>
        <p:spPr>
          <a:xfrm>
            <a:off x="2237232" y="268356"/>
            <a:ext cx="8446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Text Visualization &amp; EDA – </a:t>
            </a:r>
            <a:r>
              <a:rPr lang="en-US" sz="2400" dirty="0" err="1"/>
              <a:t>Wordcloud</a:t>
            </a:r>
            <a:r>
              <a:rPr lang="en-US" sz="2400" dirty="0"/>
              <a:t> &amp; Top-K words</a:t>
            </a:r>
          </a:p>
        </p:txBody>
      </p:sp>
    </p:spTree>
    <p:extLst>
      <p:ext uri="{BB962C8B-B14F-4D97-AF65-F5344CB8AC3E}">
        <p14:creationId xmlns:p14="http://schemas.microsoft.com/office/powerpoint/2010/main" val="2615560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1C7B7-99F4-8CB2-0852-538E5E98F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F88C71-99A3-8902-53E6-E76FBA20F2A0}"/>
              </a:ext>
            </a:extLst>
          </p:cNvPr>
          <p:cNvSpPr txBox="1"/>
          <p:nvPr/>
        </p:nvSpPr>
        <p:spPr>
          <a:xfrm>
            <a:off x="4533393" y="207264"/>
            <a:ext cx="4285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Vectorization - Bag of Words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150CB1-92F1-87F2-8226-238FD6DE7AD7}"/>
              </a:ext>
            </a:extLst>
          </p:cNvPr>
          <p:cNvSpPr txBox="1"/>
          <p:nvPr/>
        </p:nvSpPr>
        <p:spPr>
          <a:xfrm>
            <a:off x="6967728" y="5316307"/>
            <a:ext cx="405993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All the images in PPT are taken from internet , author doesn’t claim rights*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16C8E7-E0DF-295C-D4CC-43A873310753}"/>
              </a:ext>
            </a:extLst>
          </p:cNvPr>
          <p:cNvSpPr txBox="1"/>
          <p:nvPr/>
        </p:nvSpPr>
        <p:spPr>
          <a:xfrm>
            <a:off x="447039" y="1730734"/>
            <a:ext cx="45720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Bag of Words converts text into numeric count vectors.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Each unique word becomes a feature column.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Word order and context are ignored.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Simple and interpretable representation.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Suffers from high dimensionality and sparsity.</a:t>
            </a:r>
          </a:p>
          <a:p>
            <a:endParaRPr lang="en-US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F1D432BC-0F21-FB08-C706-3874AE9DF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9522" y="1730734"/>
            <a:ext cx="4998718" cy="2523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9441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D8653-5859-F5A1-3A19-CF9970B57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377070-CAB7-E92F-D93B-52CF2E8742B5}"/>
              </a:ext>
            </a:extLst>
          </p:cNvPr>
          <p:cNvSpPr txBox="1"/>
          <p:nvPr/>
        </p:nvSpPr>
        <p:spPr>
          <a:xfrm>
            <a:off x="3273552" y="339344"/>
            <a:ext cx="66527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Vectorization - Term Frequency Inverse Document Frequency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1884F5-78B3-5077-22D7-7963721648A0}"/>
              </a:ext>
            </a:extLst>
          </p:cNvPr>
          <p:cNvSpPr txBox="1"/>
          <p:nvPr/>
        </p:nvSpPr>
        <p:spPr>
          <a:xfrm>
            <a:off x="6967728" y="5316307"/>
            <a:ext cx="405993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All the images in PPT are taken from internet , author doesn’t claim rights*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678D2D-9342-DBCC-3122-0F4F316C0822}"/>
              </a:ext>
            </a:extLst>
          </p:cNvPr>
          <p:cNvSpPr txBox="1"/>
          <p:nvPr/>
        </p:nvSpPr>
        <p:spPr>
          <a:xfrm>
            <a:off x="528319" y="1874301"/>
            <a:ext cx="457200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TF measures how often a word appears in a document.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IDF reduces the weight of common words across corpus.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Combines local importance with global rarity.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Produces more informative features than </a:t>
            </a:r>
            <a:r>
              <a:rPr lang="en-IN" sz="1400" dirty="0" err="1"/>
              <a:t>BoW</a:t>
            </a:r>
            <a:r>
              <a:rPr lang="en-IN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Widely used in information retrieval systems.</a:t>
            </a:r>
          </a:p>
          <a:p>
            <a:endParaRPr lang="en-US" dirty="0"/>
          </a:p>
        </p:txBody>
      </p:sp>
      <p:pic>
        <p:nvPicPr>
          <p:cNvPr id="11267" name="Picture 3">
            <a:extLst>
              <a:ext uri="{FF2B5EF4-FFF2-40B4-BE49-F238E27FC236}">
                <a16:creationId xmlns:a16="http://schemas.microsoft.com/office/drawing/2014/main" id="{3EFB098B-CA18-B4B8-1A95-475430998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19982"/>
            <a:ext cx="5069840" cy="2847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6856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FAE91-1C3D-D49A-84E1-BAF82C91C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B70459-B063-5FBA-EE5F-EFA9F9600075}"/>
              </a:ext>
            </a:extLst>
          </p:cNvPr>
          <p:cNvSpPr txBox="1"/>
          <p:nvPr/>
        </p:nvSpPr>
        <p:spPr>
          <a:xfrm>
            <a:off x="3466940" y="339344"/>
            <a:ext cx="6652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Cosine Similarity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69852D-C9FA-C8C0-6716-A86B8A578624}"/>
              </a:ext>
            </a:extLst>
          </p:cNvPr>
          <p:cNvSpPr txBox="1"/>
          <p:nvPr/>
        </p:nvSpPr>
        <p:spPr>
          <a:xfrm>
            <a:off x="6309708" y="6103158"/>
            <a:ext cx="405993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All the images in PPT are taken from internet , author doesn’t claim rights*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CFB9CE-6171-78A6-254E-DAC16EAB042D}"/>
              </a:ext>
            </a:extLst>
          </p:cNvPr>
          <p:cNvSpPr txBox="1"/>
          <p:nvPr/>
        </p:nvSpPr>
        <p:spPr>
          <a:xfrm>
            <a:off x="528319" y="2167116"/>
            <a:ext cx="457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Measures similarity based on angle between vectors.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Focuses on direction rather than magnitude.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Useful when vector lengths vary.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Common metric for text similarity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Works well with TF-IDF and embeddings.</a:t>
            </a:r>
          </a:p>
          <a:p>
            <a:endParaRPr lang="en-US" dirty="0"/>
          </a:p>
        </p:txBody>
      </p:sp>
      <p:pic>
        <p:nvPicPr>
          <p:cNvPr id="13322" name="Picture 10" descr="Understanding Cosine Similarity in NLP: A Vector Approach | Aparna Rajawat  posted on the topic | LinkedIn">
            <a:extLst>
              <a:ext uri="{FF2B5EF4-FFF2-40B4-BE49-F238E27FC236}">
                <a16:creationId xmlns:a16="http://schemas.microsoft.com/office/drawing/2014/main" id="{2B77FD72-C169-7DA5-0878-7BC485483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400" y="1737583"/>
            <a:ext cx="464312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375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57E88-6C09-74C9-C18B-292606696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714975-3D9F-E636-EBCA-E2A3954760DD}"/>
              </a:ext>
            </a:extLst>
          </p:cNvPr>
          <p:cNvSpPr txBox="1"/>
          <p:nvPr/>
        </p:nvSpPr>
        <p:spPr>
          <a:xfrm>
            <a:off x="3466940" y="339344"/>
            <a:ext cx="6652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Search Methods –Keyword 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AA0357-22D4-F72E-0CEA-0E052B764FD9}"/>
              </a:ext>
            </a:extLst>
          </p:cNvPr>
          <p:cNvSpPr txBox="1"/>
          <p:nvPr/>
        </p:nvSpPr>
        <p:spPr>
          <a:xfrm>
            <a:off x="6309708" y="6103158"/>
            <a:ext cx="405993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All the images in PPT are taken from internet , author doesn’t claim rights*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CD09CF-6E93-7F27-3D95-76E54F88FD2F}"/>
              </a:ext>
            </a:extLst>
          </p:cNvPr>
          <p:cNvSpPr txBox="1"/>
          <p:nvPr/>
        </p:nvSpPr>
        <p:spPr>
          <a:xfrm>
            <a:off x="477519" y="2380476"/>
            <a:ext cx="457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Retrieves documents based on exact word matches.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Easy to understand and debug.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Performs well for structured queries.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Fails when synonyms or paraphrases are used.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Traditional search engines rely heavily on it.</a:t>
            </a:r>
          </a:p>
          <a:p>
            <a:endParaRPr lang="en-US" dirty="0"/>
          </a:p>
        </p:txBody>
      </p:sp>
      <p:pic>
        <p:nvPicPr>
          <p:cNvPr id="16386" name="Picture 2" descr="Everything You Need To Know About Keyword Match Types">
            <a:extLst>
              <a:ext uri="{FF2B5EF4-FFF2-40B4-BE49-F238E27FC236}">
                <a16:creationId xmlns:a16="http://schemas.microsoft.com/office/drawing/2014/main" id="{C92905AE-58BF-9157-F6D5-16FA8E6C0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5730" y="1829435"/>
            <a:ext cx="5294069" cy="3199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1259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31DEE-73CA-80BA-3F0C-CDE208B2E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8727BE-24BE-C957-DC13-5A6717A0822D}"/>
              </a:ext>
            </a:extLst>
          </p:cNvPr>
          <p:cNvSpPr txBox="1"/>
          <p:nvPr/>
        </p:nvSpPr>
        <p:spPr>
          <a:xfrm>
            <a:off x="3466940" y="339344"/>
            <a:ext cx="6652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Search Methods –Semantic 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AC7099-2C82-FB44-5705-AF2F17C1157C}"/>
              </a:ext>
            </a:extLst>
          </p:cNvPr>
          <p:cNvSpPr txBox="1"/>
          <p:nvPr/>
        </p:nvSpPr>
        <p:spPr>
          <a:xfrm>
            <a:off x="6309708" y="6103158"/>
            <a:ext cx="405993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All the images in PPT are taken from internet , author doesn’t claim rights*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2AF991-24E8-F39B-E08E-A9C398B8C72F}"/>
              </a:ext>
            </a:extLst>
          </p:cNvPr>
          <p:cNvSpPr txBox="1"/>
          <p:nvPr/>
        </p:nvSpPr>
        <p:spPr>
          <a:xfrm>
            <a:off x="477519" y="2274838"/>
            <a:ext cx="457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Understands intent rather than exact wording.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Uses embeddings to capture semantic meaning.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Handles paraphrases and synonyms naturally.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Retrieves conceptually relevant results.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Used in modern AI-powered search systems.</a:t>
            </a:r>
          </a:p>
          <a:p>
            <a:endParaRPr lang="en-US" dirty="0"/>
          </a:p>
        </p:txBody>
      </p:sp>
      <p:pic>
        <p:nvPicPr>
          <p:cNvPr id="18434" name="Picture 2" descr="How Semantic Search Works? Meaning, Example, Benefits &amp; Tips">
            <a:extLst>
              <a:ext uri="{FF2B5EF4-FFF2-40B4-BE49-F238E27FC236}">
                <a16:creationId xmlns:a16="http://schemas.microsoft.com/office/drawing/2014/main" id="{9A3D6605-D335-C7A3-C9C9-BADEAA41D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7926" y="1640840"/>
            <a:ext cx="51435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6941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B4BA7-FD0F-482B-8DF4-CD586EA26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7D85CE-EBD5-5788-0FF3-132FD86687F8}"/>
              </a:ext>
            </a:extLst>
          </p:cNvPr>
          <p:cNvSpPr txBox="1"/>
          <p:nvPr/>
        </p:nvSpPr>
        <p:spPr>
          <a:xfrm>
            <a:off x="3676202" y="131595"/>
            <a:ext cx="6652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BM25 vs Hybrid 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95ADE5-F9F5-1C42-5F4A-3D7BDD641C0B}"/>
              </a:ext>
            </a:extLst>
          </p:cNvPr>
          <p:cNvSpPr txBox="1"/>
          <p:nvPr/>
        </p:nvSpPr>
        <p:spPr>
          <a:xfrm>
            <a:off x="8006428" y="6310907"/>
            <a:ext cx="405993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All the images in PPT are taken from internet , author doesn’t claim rights*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64620CE-8E04-303E-1175-B651C8B7C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493284"/>
              </p:ext>
            </p:extLst>
          </p:nvPr>
        </p:nvGraphicFramePr>
        <p:xfrm>
          <a:off x="334087" y="1490872"/>
          <a:ext cx="6107352" cy="4442563"/>
        </p:xfrm>
        <a:graphic>
          <a:graphicData uri="http://schemas.openxmlformats.org/drawingml/2006/table">
            <a:tbl>
              <a:tblPr/>
              <a:tblGrid>
                <a:gridCol w="2035784">
                  <a:extLst>
                    <a:ext uri="{9D8B030D-6E8A-4147-A177-3AD203B41FA5}">
                      <a16:colId xmlns:a16="http://schemas.microsoft.com/office/drawing/2014/main" val="1628861126"/>
                    </a:ext>
                  </a:extLst>
                </a:gridCol>
                <a:gridCol w="2035784">
                  <a:extLst>
                    <a:ext uri="{9D8B030D-6E8A-4147-A177-3AD203B41FA5}">
                      <a16:colId xmlns:a16="http://schemas.microsoft.com/office/drawing/2014/main" val="515312777"/>
                    </a:ext>
                  </a:extLst>
                </a:gridCol>
                <a:gridCol w="2035784">
                  <a:extLst>
                    <a:ext uri="{9D8B030D-6E8A-4147-A177-3AD203B41FA5}">
                      <a16:colId xmlns:a16="http://schemas.microsoft.com/office/drawing/2014/main" val="1250626266"/>
                    </a:ext>
                  </a:extLst>
                </a:gridCol>
              </a:tblGrid>
              <a:tr h="380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BM25 Search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Hybrid Search</a:t>
                      </a:r>
                      <a:endParaRPr lang="en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969380"/>
                  </a:ext>
                </a:extLst>
              </a:tr>
              <a:tr h="380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Search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Lexical (keyword-based)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Keyword + Semantic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19963"/>
                  </a:ext>
                </a:extLst>
              </a:tr>
              <a:tr h="634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Core Idea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Rank documents using term frequency and rarity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Combine exact match with 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938729"/>
                  </a:ext>
                </a:extLst>
              </a:tr>
              <a:tr h="380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Handles Synonyms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004602"/>
                  </a:ext>
                </a:extLst>
              </a:tr>
              <a:tr h="380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Handles Paraphrases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❌ Poorly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Effectively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030040"/>
                  </a:ext>
                </a:extLst>
              </a:tr>
              <a:tr h="380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Uses Embeddings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31059"/>
                  </a:ext>
                </a:extLst>
              </a:tr>
              <a:tr h="634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Interpretability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High (easy to debug)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Medium (fusion logic involved)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6032569"/>
                  </a:ext>
                </a:extLst>
              </a:tr>
              <a:tr h="634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Fast and efficient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Slightly slower but more accurate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673474"/>
                  </a:ext>
                </a:extLst>
              </a:tr>
              <a:tr h="634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Typical 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Traditional search engines, logs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Modern AI search, RAG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542255"/>
                  </a:ext>
                </a:extLst>
              </a:tr>
            </a:tbl>
          </a:graphicData>
        </a:graphic>
      </p:graphicFrame>
      <p:pic>
        <p:nvPicPr>
          <p:cNvPr id="20482" name="Picture 2" descr="Using BM25 to Optimize Q&amp;A and Search Accuracy | ConfidentialMind">
            <a:extLst>
              <a:ext uri="{FF2B5EF4-FFF2-40B4-BE49-F238E27FC236}">
                <a16:creationId xmlns:a16="http://schemas.microsoft.com/office/drawing/2014/main" id="{0E4994BB-2AF6-778E-6A23-3CF6F3ED8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3732" y="570176"/>
            <a:ext cx="3744348" cy="225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8" name="Picture 8" descr="Hybrid Search: The Next Frontier Beyond Vector Search!">
            <a:extLst>
              <a:ext uri="{FF2B5EF4-FFF2-40B4-BE49-F238E27FC236}">
                <a16:creationId xmlns:a16="http://schemas.microsoft.com/office/drawing/2014/main" id="{41799A03-9862-B9A1-70D8-8A8D19C17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7531" y="3091073"/>
            <a:ext cx="4321717" cy="24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4360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763</Words>
  <Application>Microsoft Macintosh PowerPoint</Application>
  <PresentationFormat>Widescreen</PresentationFormat>
  <Paragraphs>154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Introduction to NLP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Varun Raste</dc:creator>
  <cp:lastModifiedBy>Varun Raste</cp:lastModifiedBy>
  <cp:revision>1</cp:revision>
  <dcterms:created xsi:type="dcterms:W3CDTF">2026-01-13T04:03:50Z</dcterms:created>
  <dcterms:modified xsi:type="dcterms:W3CDTF">2026-01-13T04:58:30Z</dcterms:modified>
</cp:coreProperties>
</file>